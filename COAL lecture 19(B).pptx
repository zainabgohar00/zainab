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Floating-Point and Fixed-Point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14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2323"/>
                </a:solidFill>
              </a:defRPr>
            </a:pPr>
            <a:r>
              <a:rPr>
                <a:solidFill>
                  <a:srgbClr val="000000"/>
                </a:solidFill>
              </a:rPr>
              <a:t>Explanatory presentation based on the two provided notes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86200"/>
            <a:ext cx="2926080" cy="100584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FIXED-POINT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3886200"/>
            <a:ext cx="2926080" cy="1005840"/>
          </a:xfrm>
          <a:prstGeom prst="roundRect">
            <a:avLst/>
          </a:prstGeom>
          <a:solidFill>
            <a:srgbClr val="F0F6F0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FLOATING-POINT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0" y="4389120"/>
            <a:ext cx="685800" cy="0"/>
          </a:xfrm>
          <a:prstGeom prst="line">
            <a:avLst/>
          </a:prstGeom>
          <a:ln w="31750">
            <a:solidFill>
              <a:srgbClr val="37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>
                <a:solidFill>
                  <a:srgbClr val="00000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1. Why Numerical Representation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Computer systems must represent real numbers, including values with fractional parts.</a:t>
            </a:r>
          </a:p>
          <a:p>
            <a:pPr>
              <a:spcAft>
                <a:spcPts val="1000"/>
              </a:spcAft>
              <a:defRPr sz="21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Examples include 25.75, 3.14159 and 0.00125.</a:t>
            </a:r>
          </a:p>
          <a:p>
            <a:pPr>
              <a:spcAft>
                <a:spcPts val="1000"/>
              </a:spcAft>
              <a:defRPr sz="21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Two important approaches in the notes are fixed-point and floating-point representation.</a:t>
            </a:r>
          </a:p>
          <a:p>
            <a:pPr>
              <a:spcAft>
                <a:spcPts val="1000"/>
              </a:spcAft>
              <a:defRPr sz="21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 key difference is how the binary point is positioned and how much numerical range is available.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4480560"/>
            <a:ext cx="3291840" cy="91440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REAL NUMBER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480560"/>
            <a:ext cx="237744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Fixed 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448056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4480560"/>
            <a:ext cx="237744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Floating Point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5212080" y="4937760"/>
            <a:ext cx="2377440" cy="0"/>
          </a:xfrm>
          <a:prstGeom prst="line">
            <a:avLst/>
          </a:prstGeom>
          <a:ln w="31750">
            <a:solidFill>
              <a:srgbClr val="37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98280" y="4937760"/>
            <a:ext cx="45720" cy="0"/>
          </a:xfrm>
          <a:prstGeom prst="line">
            <a:avLst/>
          </a:prstGeom>
          <a:ln w="31750">
            <a:solidFill>
              <a:srgbClr val="37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>
                <a:solidFill>
                  <a:srgbClr val="00000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2. Fixed-Point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583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In fixed-point representation, the position of the binary point is predetermined and remains fixed.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 number is treated as an integer part plus a fixed fractional part.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Example: 1010.1100₂ = 10.75₁₀.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Advantages: simple hardware, fast calculations, predictable precision.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Typical use in the notes: embedded and digital signal-processing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828800"/>
            <a:ext cx="3108960" cy="82296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1010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81360" y="1828800"/>
            <a:ext cx="822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95760" y="1828800"/>
            <a:ext cx="3474720" cy="822960"/>
          </a:xfrm>
          <a:prstGeom prst="roundRect">
            <a:avLst/>
          </a:prstGeom>
          <a:solidFill>
            <a:srgbClr val="F0F6F0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325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2323"/>
                </a:solidFill>
              </a:defRPr>
            </a:pPr>
            <a:r>
              <a:rPr>
                <a:solidFill>
                  <a:srgbClr val="000000"/>
                </a:solidFill>
              </a:rPr>
              <a:t>Binary point stays in the same position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3154680"/>
            <a:ext cx="329184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1010₂ = 10₁₀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977639"/>
            <a:ext cx="329184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.1100₂ = 0.75₁₀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4800600"/>
            <a:ext cx="3291840" cy="77724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Total = 10.75₁₀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>
                <a:solidFill>
                  <a:srgbClr val="00000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3. Floating-Point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Floating-point representation allows the binary point to move according to an exponent.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It is analogous to scientific notation.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Decimal analogy: 6250 = 6.25 × 10³.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Binary example: 101.1₂ = 1.011₂ × 2².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General form in the notes: (−1)ˢ × M × 2ᴱ.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645920"/>
            <a:ext cx="1828800" cy="73152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101.1₂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281160" y="2011680"/>
            <a:ext cx="914400" cy="0"/>
          </a:xfrm>
          <a:prstGeom prst="line">
            <a:avLst/>
          </a:prstGeom>
          <a:ln w="31750">
            <a:solidFill>
              <a:srgbClr val="37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0241280" y="1645920"/>
            <a:ext cx="1325880" cy="731520"/>
          </a:xfrm>
          <a:prstGeom prst="roundRect">
            <a:avLst/>
          </a:prstGeom>
          <a:solidFill>
            <a:srgbClr val="F0F6F0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1.011₂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834640"/>
            <a:ext cx="11887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× 2²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4160520"/>
            <a:ext cx="4297680" cy="96012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Binary point effectively moves</a:t>
            </a:r>
            <a:br/>
            <a:r>
              <a:rPr>
                <a:solidFill>
                  <a:srgbClr val="000000"/>
                </a:solidFill>
              </a:rPr>
              <a:t>according to exponent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>
                <a:solidFill>
                  <a:srgbClr val="00000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4. IEEE 754 Single Precision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280160" cy="91440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Sign</a:t>
            </a:r>
            <a:br/>
            <a:r>
              <a:rPr>
                <a:solidFill>
                  <a:srgbClr val="000000"/>
                </a:solidFill>
              </a:rPr>
              <a:t>1 bit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371600"/>
            <a:ext cx="42976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Exponent</a:t>
            </a:r>
            <a:br/>
            <a:r>
              <a:rPr>
                <a:solidFill>
                  <a:srgbClr val="000000"/>
                </a:solidFill>
              </a:rPr>
              <a:t>8 bits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4572000" cy="914400"/>
          </a:xfrm>
          <a:prstGeom prst="roundRect">
            <a:avLst/>
          </a:prstGeom>
          <a:solidFill>
            <a:srgbClr val="F0F6F0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Fraction</a:t>
            </a:r>
            <a:br/>
            <a:r>
              <a:rPr>
                <a:solidFill>
                  <a:srgbClr val="000000"/>
                </a:solidFill>
              </a:rPr>
              <a:t>23 bits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Sign indicates whether the value is positive or negative.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Exponent controls the scale/position of the binary point.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Fraction stores the fractional/significant bits.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Total = 1 + 8 + 23 = 32 bits.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5074920"/>
            <a:ext cx="57607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| Sign |       Exponent       |             Fraction             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>
                <a:solidFill>
                  <a:srgbClr val="00000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5. Explicit vs. Implicit Representation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120640" cy="100584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EXPLICIT REPRESENTATION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417320"/>
            <a:ext cx="5120640" cy="1005840"/>
          </a:xfrm>
          <a:prstGeom prst="roundRect">
            <a:avLst/>
          </a:prstGeom>
          <a:solidFill>
            <a:srgbClr val="F0F6F0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IMPLICIT 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Relevant information is directly stored or shown.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Example: normalized significand 1.011 explicitly shows the leading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74320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Some information is understood from the format and need not be stored.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In normalized IEEE 754 binary numbers, the leading 1 is hidden/implicit.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5166360"/>
            <a:ext cx="46634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Actual: 1.011     →     Stored fraction: 011000…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>
                <a:solidFill>
                  <a:srgbClr val="00000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6. Why Is the Leading 1 Implicit?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6675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A normalized binary number has the form 1.xxxxx × 2ᴱ.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Because the first digit is always 1, IEEE 754 does not store that digit.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This saves one bit.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Single precision therefore has an effective 24-bit significand: 1 implicit bit + 23 stored fraction bits.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600200"/>
            <a:ext cx="2926080" cy="82296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1.xxxxx × 2ᴱ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326880" y="2560320"/>
            <a:ext cx="0" cy="594360"/>
          </a:xfrm>
          <a:prstGeom prst="line">
            <a:avLst/>
          </a:prstGeom>
          <a:ln w="31750">
            <a:solidFill>
              <a:srgbClr val="37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589520" y="3246120"/>
            <a:ext cx="3657600" cy="777240"/>
          </a:xfrm>
          <a:prstGeom prst="roundRect">
            <a:avLst/>
          </a:prstGeom>
          <a:solidFill>
            <a:srgbClr val="F0F6F0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 = implicit / hidden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4251960"/>
            <a:ext cx="365760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xxxxx = stored fraction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5349240"/>
            <a:ext cx="45720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Effective significand = 1 + 23 = 24 bits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>
                <a:solidFill>
                  <a:srgbClr val="00000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7. Fixed-Point vs. Floating-Point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40480"/>
                <a:gridCol w="4572000"/>
              </a:tblGrid>
              <a:tr h="679268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Fixed Point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Floating Point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Binary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Moves according to exponent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Representation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Integer + fixed fraction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Sign + exponent + fraction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Relatively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Very large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Fixed scale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Depends on magnitude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Simpler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More complex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Typical uses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Embedded / DSP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Scientific computing / graphics / AI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>
                <a:solidFill>
                  <a:srgbClr val="00000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8. Worked Example: 5.5 in IEEE 754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640080" cy="64008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1143000"/>
            <a:ext cx="2468880" cy="6400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Decimal → Binary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143000"/>
            <a:ext cx="69494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5.5 = 101.1₂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75688"/>
            <a:ext cx="640080" cy="64008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2075688"/>
            <a:ext cx="2468880" cy="6400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Normalize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075688"/>
            <a:ext cx="69494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101.1₂ = 1.011₂ × 2²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08376"/>
            <a:ext cx="640080" cy="64008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3008376"/>
            <a:ext cx="2468880" cy="6400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008376"/>
            <a:ext cx="69494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Positive → Sign =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41064"/>
            <a:ext cx="640080" cy="64008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3941064"/>
            <a:ext cx="2468880" cy="6400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Biased exponent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941064"/>
            <a:ext cx="69494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2 + 127 = 129 = 10000001₂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73752"/>
            <a:ext cx="640080" cy="64008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4873752"/>
            <a:ext cx="2468880" cy="6400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Fraction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4873752"/>
            <a:ext cx="69494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01100000000000000000000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897880"/>
            <a:ext cx="6675120" cy="594360"/>
          </a:xfrm>
          <a:prstGeom prst="roundRect">
            <a:avLst/>
          </a:prstGeom>
          <a:solidFill>
            <a:srgbClr val="F0F6F0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Final: 0 | 10000001 | 01100000000000000000000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>
                <a:solidFill>
                  <a:srgbClr val="00000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9. Example 1 — Represent 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6492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Step 1: Integer part: 5₁₀ = 101₂.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Step 2: Fractional part: 0.5₁₀ = 0.1₂.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Therefore: 5.5₁₀ = 101.1₂.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Step 3: Normalize: 101.1₂ = 1.011₂ × 2².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Step 4: Sign = 0; exponent = 2 + 127 = 129 = 10000001₂.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Fraction = 01100000000000000000000.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645920"/>
            <a:ext cx="3657600" cy="73152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5.5 → 101.1₂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326880" y="2514600"/>
            <a:ext cx="0" cy="640080"/>
          </a:xfrm>
          <a:prstGeom prst="line">
            <a:avLst/>
          </a:prstGeom>
          <a:ln w="31750">
            <a:solidFill>
              <a:srgbClr val="37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98079" y="3246120"/>
            <a:ext cx="3657600" cy="73152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1.011₂ × 2²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326880" y="4069080"/>
            <a:ext cx="0" cy="502920"/>
          </a:xfrm>
          <a:prstGeom prst="line">
            <a:avLst/>
          </a:prstGeom>
          <a:ln w="31750">
            <a:solidFill>
              <a:srgbClr val="37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995160" y="4663440"/>
            <a:ext cx="4663440" cy="868680"/>
          </a:xfrm>
          <a:prstGeom prst="roundRect">
            <a:avLst/>
          </a:prstGeom>
          <a:solidFill>
            <a:srgbClr val="F0F6F0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0 | 10000001 | 01100000000000000000000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>
                <a:solidFill>
                  <a:srgbClr val="00000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10. Example 2 — Represent 10.25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6583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Step 1: Integer part: 10₁₀ = 1010₂.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Step 2: Fractional part: 0.25₁₀ = 0.01₂.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Therefore: 10.25₁₀ = 1010.01₂.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Step 3: Normalize: 1010.01₂ = 1.01001₂ × 2³.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Step 4: Sign = 0; biased exponent = 3 + 127 = 130 = 10000010₂.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Fraction = 01001000000000000000000.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645920"/>
            <a:ext cx="3566160" cy="73152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10.25 → 1010.01₂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326880" y="2514600"/>
            <a:ext cx="0" cy="640080"/>
          </a:xfrm>
          <a:prstGeom prst="line">
            <a:avLst/>
          </a:prstGeom>
          <a:ln w="31750">
            <a:solidFill>
              <a:srgbClr val="37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543800" y="3246120"/>
            <a:ext cx="3566160" cy="73152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1.01001₂ × 2³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326880" y="4069080"/>
            <a:ext cx="0" cy="502920"/>
          </a:xfrm>
          <a:prstGeom prst="line">
            <a:avLst/>
          </a:prstGeom>
          <a:ln w="31750">
            <a:solidFill>
              <a:srgbClr val="37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903720" y="4663440"/>
            <a:ext cx="4846320" cy="868680"/>
          </a:xfrm>
          <a:prstGeom prst="roundRect">
            <a:avLst/>
          </a:prstGeom>
          <a:solidFill>
            <a:srgbClr val="F0F6F0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0 | 10000010 | 01001000000000000000000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>
                <a:solidFill>
                  <a:srgbClr val="00000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11. Example 3 — Represent 0.625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Convert the fraction by repeated multiplication by 2: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0.625 × 2 = 1.25 → 1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0.25 × 2 = 0.50 → 0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0.50 × 2 = 1.00 → 1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Therefore: 0.625₁₀ = 0.101₂.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Normalize: 0.101₂ = 1.01₂ × 2⁻¹.</a:t>
            </a:r>
          </a:p>
          <a:p>
            <a:pPr>
              <a:spcAft>
                <a:spcPts val="1000"/>
              </a:spcAft>
              <a:defRPr sz="16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Biased exponent: −1 + 127 = 126 = 01111110₂.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417320"/>
            <a:ext cx="3749039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0.625 → 0.101₂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331720"/>
            <a:ext cx="3749039" cy="68580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1.01₂ × 2⁻¹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3246120"/>
            <a:ext cx="3749039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Exponent = 126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4251960"/>
            <a:ext cx="4846320" cy="914400"/>
          </a:xfrm>
          <a:prstGeom prst="roundRect">
            <a:avLst/>
          </a:prstGeom>
          <a:solidFill>
            <a:srgbClr val="F0F6F0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0 | 01111110 | 01000000000000000000000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>
                <a:solidFill>
                  <a:srgbClr val="00000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12. Example 4 — Represent −13.5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6492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Step 1: 13₁₀ = 1101₂ and 0.5₁₀ = 0.1₂.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Therefore: 13.5₁₀ = 1101.1₂.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Step 2: Normalize: 1101.1₂ = 1.1011₂ × 2³.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Step 3: The number is negative → Sign = 1.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Biased exponent: 3 + 127 = 130 = 10000010₂.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Fraction = 10110000000000000000000.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600200"/>
            <a:ext cx="3657600" cy="73152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−13.5 → 1101.1₂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281160" y="2468880"/>
            <a:ext cx="0" cy="594360"/>
          </a:xfrm>
          <a:prstGeom prst="line">
            <a:avLst/>
          </a:prstGeom>
          <a:ln w="31750">
            <a:solidFill>
              <a:srgbClr val="37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52360" y="3154680"/>
            <a:ext cx="3657600" cy="73152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1.1011₂ × 2³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4069080"/>
            <a:ext cx="36576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Sign =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4983480"/>
            <a:ext cx="4846320" cy="868680"/>
          </a:xfrm>
          <a:prstGeom prst="roundRect">
            <a:avLst/>
          </a:prstGeom>
          <a:solidFill>
            <a:srgbClr val="F0F6F0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 | 10000010 | 10110000000000000000000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>
                <a:solidFill>
                  <a:srgbClr val="000000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13. A General Conversion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057400"/>
            <a:ext cx="1417320" cy="91440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Decimal</a:t>
            </a:r>
            <a:br/>
            <a:r>
              <a:rPr>
                <a:solidFill>
                  <a:srgbClr val="000000"/>
                </a:solidFill>
              </a:rPr>
              <a:t>number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55648" y="2514600"/>
            <a:ext cx="192024" cy="0"/>
          </a:xfrm>
          <a:prstGeom prst="line">
            <a:avLst/>
          </a:prstGeom>
          <a:ln w="31750">
            <a:solidFill>
              <a:srgbClr val="37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984248" y="2057400"/>
            <a:ext cx="1417320" cy="914400"/>
          </a:xfrm>
          <a:prstGeom prst="roundRect">
            <a:avLst/>
          </a:prstGeom>
          <a:solidFill>
            <a:srgbClr val="F0F6F0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Binary</a:t>
            </a:r>
            <a:br/>
            <a:r>
              <a:rPr>
                <a:solidFill>
                  <a:srgbClr val="000000"/>
                </a:solidFill>
              </a:rPr>
              <a:t>conversion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19856" y="2514600"/>
            <a:ext cx="192024" cy="0"/>
          </a:xfrm>
          <a:prstGeom prst="line">
            <a:avLst/>
          </a:prstGeom>
          <a:ln w="31750">
            <a:solidFill>
              <a:srgbClr val="37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48456" y="2057400"/>
            <a:ext cx="1417320" cy="91440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Normalize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84064" y="2514600"/>
            <a:ext cx="192024" cy="0"/>
          </a:xfrm>
          <a:prstGeom prst="line">
            <a:avLst/>
          </a:prstGeom>
          <a:ln w="31750">
            <a:solidFill>
              <a:srgbClr val="37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12664" y="2057400"/>
            <a:ext cx="1417320" cy="914400"/>
          </a:xfrm>
          <a:prstGeom prst="roundRect">
            <a:avLst/>
          </a:prstGeom>
          <a:solidFill>
            <a:srgbClr val="F0F6F0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Determine</a:t>
            </a:r>
            <a:br/>
            <a:r>
              <a:rPr>
                <a:solidFill>
                  <a:srgbClr val="000000"/>
                </a:solidFill>
              </a:rPr>
              <a:t>sign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48272" y="2514600"/>
            <a:ext cx="192024" cy="0"/>
          </a:xfrm>
          <a:prstGeom prst="line">
            <a:avLst/>
          </a:prstGeom>
          <a:ln w="31750">
            <a:solidFill>
              <a:srgbClr val="37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976872" y="2057400"/>
            <a:ext cx="1417320" cy="91440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Calculate</a:t>
            </a:r>
            <a:br/>
            <a:r>
              <a:rPr>
                <a:solidFill>
                  <a:srgbClr val="000000"/>
                </a:solidFill>
              </a:rPr>
              <a:t>biased exponent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80" y="2514600"/>
            <a:ext cx="192024" cy="0"/>
          </a:xfrm>
          <a:prstGeom prst="line">
            <a:avLst/>
          </a:prstGeom>
          <a:ln w="31750">
            <a:solidFill>
              <a:srgbClr val="37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41080" y="2057400"/>
            <a:ext cx="1417320" cy="914400"/>
          </a:xfrm>
          <a:prstGeom prst="roundRect">
            <a:avLst/>
          </a:prstGeom>
          <a:solidFill>
            <a:srgbClr val="F0F6F0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Store</a:t>
            </a:r>
            <a:br/>
            <a:r>
              <a:rPr>
                <a:solidFill>
                  <a:srgbClr val="000000"/>
                </a:solidFill>
              </a:rPr>
              <a:t>fraction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76688" y="2514600"/>
            <a:ext cx="192023" cy="0"/>
          </a:xfrm>
          <a:prstGeom prst="line">
            <a:avLst/>
          </a:prstGeom>
          <a:ln w="31750">
            <a:solidFill>
              <a:srgbClr val="375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305288" y="2057400"/>
            <a:ext cx="1417320" cy="914400"/>
          </a:xfrm>
          <a:prstGeom prst="roundRect">
            <a:avLst/>
          </a:prstGeom>
          <a:solidFill>
            <a:srgbClr val="ECF1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32-bit IEEE</a:t>
            </a:r>
            <a:br/>
            <a:r>
              <a:rPr>
                <a:solidFill>
                  <a:srgbClr val="000000"/>
                </a:solidFill>
              </a:rPr>
              <a:t>754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4023360"/>
            <a:ext cx="7406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For normalized values: significand = 1.fraction</a:t>
            </a:r>
            <a:br/>
            <a:r>
              <a:rPr>
                <a:solidFill>
                  <a:srgbClr val="000000"/>
                </a:solidFill>
              </a:rPr>
              <a:t>The leading 1 is implicit and the 23-bit fraction is stored.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>
                <a:solidFill>
                  <a:srgbClr val="000000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14. Key Points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Fixed-point: the binary point is at a predetermined position.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Floating-point: the binary point effectively moves according to the exponent.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Explicit: information is directly represented or stored.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Implicit: information is known from the representation and need not be stored.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IEEE 754 single precision uses 1 sign bit, 8 exponent bits and 23 fraction bits.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For normalized binary values, the leading 1 is implicit, giving 24 effective significand bits.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The four worked examples show the same conversion pattern for positive, fractional and negative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rPr>
                <a:solidFill>
                  <a:srgbClr val="000000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