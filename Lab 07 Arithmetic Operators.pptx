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00000"/>
                </a:solidFill>
              </a:defRPr>
            </a:pPr>
            <a:r>
              <a:t>Lab Session 07</a:t>
            </a:r>
          </a:p>
          <a:p>
            <a:pPr algn="l">
              <a:defRPr sz="2600"/>
            </a:pPr>
            <a:r>
              <a:t>Introduction to Arithmetic Operators using NASM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Understand basic arithmetic instructions in NASM.</a:t>
            </a:r>
          </a:p>
          <a:p>
            <a:pPr>
              <a:spcAft>
                <a:spcPts val="1200"/>
              </a:spcAft>
              <a:defRPr sz="2100"/>
            </a:pPr>
            <a:r>
              <a:t>Learn INC and DEC for changing a value by 1.</a:t>
            </a:r>
          </a:p>
          <a:p>
            <a:pPr>
              <a:spcAft>
                <a:spcPts val="1200"/>
              </a:spcAft>
              <a:defRPr sz="2100"/>
            </a:pPr>
            <a:r>
              <a:t>Use ADD and SUB for addition and subtraction.</a:t>
            </a:r>
          </a:p>
          <a:p>
            <a:pPr>
              <a:spcAft>
                <a:spcPts val="1200"/>
              </a:spcAft>
              <a:defRPr sz="2100"/>
            </a:pPr>
            <a:r>
              <a:t>Use MUL for unsigned multiplication.</a:t>
            </a:r>
          </a:p>
          <a:p>
            <a:pPr>
              <a:spcAft>
                <a:spcPts val="1200"/>
              </a:spcAft>
              <a:defRPr sz="2100"/>
            </a:pPr>
            <a:r>
              <a:t>Use DIV for unsigned division.</a:t>
            </a:r>
          </a:p>
          <a:p>
            <a:pPr>
              <a:spcAft>
                <a:spcPts val="1200"/>
              </a:spcAft>
              <a:defRPr sz="2100"/>
            </a:pPr>
            <a:r>
              <a:t>Write and understand complete NASM programs.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INC and DEC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INC increases the destination operand by 1.</a:t>
            </a:r>
          </a:p>
          <a:p>
            <a:pPr>
              <a:spcAft>
                <a:spcPts val="1200"/>
              </a:spcAft>
              <a:defRPr sz="2100"/>
            </a:pPr>
            <a:r>
              <a:t>Syntax: INC destination</a:t>
            </a:r>
          </a:p>
          <a:p>
            <a:pPr>
              <a:spcAft>
                <a:spcPts val="1200"/>
              </a:spcAft>
              <a:defRPr sz="2100"/>
            </a:pPr>
            <a:r>
              <a:t>Example: INC EAX  →  EAX = EAX + 1</a:t>
            </a:r>
          </a:p>
          <a:p>
            <a:pPr>
              <a:spcAft>
                <a:spcPts val="1200"/>
              </a:spcAft>
              <a:defRPr sz="2100"/>
            </a:pPr>
            <a:r>
              <a:t>DEC decreases the destination operand by 1.</a:t>
            </a:r>
          </a:p>
          <a:p>
            <a:pPr>
              <a:spcAft>
                <a:spcPts val="1200"/>
              </a:spcAft>
              <a:defRPr sz="2100"/>
            </a:pPr>
            <a:r>
              <a:t>Syntax: DEC destination</a:t>
            </a:r>
          </a:p>
          <a:p>
            <a:pPr>
              <a:spcAft>
                <a:spcPts val="1200"/>
              </a:spcAft>
              <a:defRPr sz="2100"/>
            </a:pPr>
            <a:r>
              <a:t>Example: DEC EAX  →  EAX = EAX - 1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ADD and SUB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Syntax: ADD destination, source</a:t>
            </a:r>
          </a:p>
          <a:p>
            <a:pPr>
              <a:spcAft>
                <a:spcPts val="1200"/>
              </a:spcAft>
              <a:defRPr sz="2100"/>
            </a:pPr>
            <a:r>
              <a:t>Syntax: SUB destination, source</a:t>
            </a:r>
          </a:p>
          <a:p>
            <a:pPr>
              <a:spcAft>
                <a:spcPts val="1200"/>
              </a:spcAft>
              <a:defRPr sz="2100"/>
            </a:pPr>
            <a:r>
              <a:t>Example: ADD EAX, EBX</a:t>
            </a:r>
          </a:p>
          <a:p>
            <a:pPr>
              <a:spcAft>
                <a:spcPts val="1200"/>
              </a:spcAft>
              <a:defRPr sz="2100"/>
            </a:pPr>
            <a:r>
              <a:t>Example: SUB EAX, EBX</a:t>
            </a:r>
          </a:p>
          <a:p>
            <a:pPr>
              <a:spcAft>
                <a:spcPts val="1200"/>
              </a:spcAft>
              <a:defRPr sz="2100"/>
            </a:pPr>
            <a:r>
              <a:t>They can work with register and memory operands, but memory-to-memory arithmetic is not allowed.</a:t>
            </a:r>
          </a:p>
          <a:p>
            <a:pPr>
              <a:spcAft>
                <a:spcPts val="1200"/>
              </a:spcAft>
              <a:defRPr sz="2100"/>
            </a:pPr>
            <a:r>
              <a:t>ADD and SUB affect arithmetic status flags.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MUL and DIV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MUL performs unsigned multiplication.</a:t>
            </a:r>
          </a:p>
          <a:p>
            <a:pPr>
              <a:spcAft>
                <a:spcPts val="1200"/>
              </a:spcAft>
              <a:defRPr sz="2100"/>
            </a:pPr>
            <a:r>
              <a:t>Syntax: MUL multiplier</a:t>
            </a:r>
          </a:p>
          <a:p>
            <a:pPr>
              <a:spcAft>
                <a:spcPts val="1200"/>
              </a:spcAft>
              <a:defRPr sz="2100"/>
            </a:pPr>
            <a:r>
              <a:t>For 8-bit multiplication: AL × operand → AX.</a:t>
            </a:r>
          </a:p>
          <a:p>
            <a:pPr>
              <a:spcAft>
                <a:spcPts val="1200"/>
              </a:spcAft>
              <a:defRPr sz="2100"/>
            </a:pPr>
            <a:r>
              <a:t>DIV performs unsigned division.</a:t>
            </a:r>
          </a:p>
          <a:p>
            <a:pPr>
              <a:spcAft>
                <a:spcPts val="1200"/>
              </a:spcAft>
              <a:defRPr sz="2100"/>
            </a:pPr>
            <a:r>
              <a:t>Syntax: DIV divisor</a:t>
            </a:r>
          </a:p>
          <a:p>
            <a:pPr>
              <a:spcAft>
                <a:spcPts val="1200"/>
              </a:spcAft>
              <a:defRPr sz="2100"/>
            </a:pPr>
            <a:r>
              <a:t>For an 8-bit divisor: AX ÷ divisor → AL (quotient), AH (remainder).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Complete Program Example 1: Addition of 3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urier New"/>
              </a:defRPr>
            </a:pPr>
            <a:r>
              <a:t>; Addition of 3 values</a:t>
            </a:r>
            <a:br/>
            <a:r>
              <a:t>section .text</a:t>
            </a:r>
            <a:br/>
            <a:r>
              <a:t>    global _start</a:t>
            </a:r>
            <a:br/>
            <a:br/>
            <a:r>
              <a:t>_start:</a:t>
            </a:r>
            <a:br/>
            <a:r>
              <a:t>    mov eax, 2</a:t>
            </a:r>
            <a:br/>
            <a:r>
              <a:t>    mov ebx, 3</a:t>
            </a:r>
            <a:br/>
            <a:r>
              <a:t>    mov ecx, 4</a:t>
            </a:r>
            <a:br/>
            <a:br/>
            <a:r>
              <a:t>    add eax, ebx</a:t>
            </a:r>
            <a:br/>
            <a:r>
              <a:t>    add eax, ecx</a:t>
            </a:r>
            <a:br/>
            <a:br/>
            <a:r>
              <a:t>    ; Exit program</a:t>
            </a:r>
            <a:br/>
            <a:r>
              <a:t>    mov ebx, eax</a:t>
            </a:r>
            <a:br/>
            <a:r>
              <a:t>    mov eax, 1</a:t>
            </a:r>
            <a:br/>
            <a:r>
              <a:t>    int 0x80</a:t>
            </a:r>
            <a:br/>
            <a:br/>
            <a:r>
              <a:t>section .data</a:t>
            </a:r>
            <a:br/>
            <a:r>
              <a:t>    ; No data required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Example 1: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EAX = 2</a:t>
            </a:r>
          </a:p>
          <a:p>
            <a:pPr>
              <a:spcAft>
                <a:spcPts val="1200"/>
              </a:spcAft>
              <a:defRPr sz="2100"/>
            </a:pPr>
            <a:r>
              <a:t>EBX = 3</a:t>
            </a:r>
          </a:p>
          <a:p>
            <a:pPr>
              <a:spcAft>
                <a:spcPts val="1200"/>
              </a:spcAft>
              <a:defRPr sz="2100"/>
            </a:pPr>
            <a:r>
              <a:t>ECX = 4</a:t>
            </a:r>
          </a:p>
          <a:p>
            <a:pPr>
              <a:spcAft>
                <a:spcPts val="1200"/>
              </a:spcAft>
              <a:defRPr sz="2100"/>
            </a:pPr>
            <a:r>
              <a:t>ADD EAX, EBX → EAX = 5</a:t>
            </a:r>
          </a:p>
          <a:p>
            <a:pPr>
              <a:spcAft>
                <a:spcPts val="1200"/>
              </a:spcAft>
              <a:defRPr sz="2100"/>
            </a:pPr>
            <a:r>
              <a:t>ADD EAX, ECX → EAX = 9</a:t>
            </a:r>
          </a:p>
          <a:p>
            <a:pPr>
              <a:spcAft>
                <a:spcPts val="1200"/>
              </a:spcAft>
              <a:defRPr sz="2100"/>
            </a:pPr>
            <a:r>
              <a:t>Final result: 2 + 3 + 4 = 9</a:t>
            </a:r>
          </a:p>
          <a:p>
            <a:pPr>
              <a:spcAft>
                <a:spcPts val="1200"/>
              </a:spcAft>
              <a:defRPr sz="2100"/>
            </a:pPr>
            <a:r>
              <a:t>Note: This simple example places the result in EAX and exits; it does not print the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Complete Program Example 2: Division of 10 by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ourier New"/>
              </a:defRPr>
            </a:pPr>
            <a:r>
              <a:t>; Divide 10 by 5</a:t>
            </a:r>
            <a:br/>
            <a:r>
              <a:t>section .text</a:t>
            </a:r>
            <a:br/>
            <a:r>
              <a:t>    global _start</a:t>
            </a:r>
            <a:br/>
            <a:br/>
            <a:r>
              <a:t>_start:</a:t>
            </a:r>
            <a:br/>
            <a:r>
              <a:t>    mov ax, 10</a:t>
            </a:r>
            <a:br/>
            <a:r>
              <a:t>    mov bl, 5</a:t>
            </a:r>
            <a:br/>
            <a:br/>
            <a:r>
              <a:t>    div bl</a:t>
            </a:r>
            <a:br/>
            <a:r>
              <a:t>    ; AL = quotient = 2</a:t>
            </a:r>
            <a:br/>
            <a:r>
              <a:t>    ; AH = remainder = 0</a:t>
            </a:r>
            <a:br/>
            <a:br/>
            <a:r>
              <a:t>    ; Exit program</a:t>
            </a:r>
            <a:br/>
            <a:r>
              <a:t>    mov ebx, 0</a:t>
            </a:r>
            <a:br/>
            <a:r>
              <a:t>    mov eax, 1</a:t>
            </a:r>
            <a:br/>
            <a:r>
              <a:t>    int 0x80</a:t>
            </a:r>
            <a:br/>
            <a:br/>
            <a:r>
              <a:t>section .data</a:t>
            </a:r>
            <a:br/>
            <a:r>
              <a:t>    ; No data required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Example 2: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AX contains the dividend: 10.</a:t>
            </a:r>
          </a:p>
          <a:p>
            <a:pPr>
              <a:spcAft>
                <a:spcPts val="1200"/>
              </a:spcAft>
              <a:defRPr sz="2100"/>
            </a:pPr>
            <a:r>
              <a:t>BL contains the divisor: 5.</a:t>
            </a:r>
          </a:p>
          <a:p>
            <a:pPr>
              <a:spcAft>
                <a:spcPts val="1200"/>
              </a:spcAft>
              <a:defRPr sz="2100"/>
            </a:pPr>
            <a:r>
              <a:t>DIV BL performs AX ÷ BL.</a:t>
            </a:r>
          </a:p>
          <a:p>
            <a:pPr>
              <a:spcAft>
                <a:spcPts val="1200"/>
              </a:spcAft>
              <a:defRPr sz="2100"/>
            </a:pPr>
            <a:r>
              <a:t>AL receives the quotient: 2.</a:t>
            </a:r>
          </a:p>
          <a:p>
            <a:pPr>
              <a:spcAft>
                <a:spcPts val="1200"/>
              </a:spcAft>
              <a:defRPr sz="2100"/>
            </a:pPr>
            <a:r>
              <a:t>AH receives the remainder: 0.</a:t>
            </a:r>
          </a:p>
          <a:p>
            <a:pPr>
              <a:spcAft>
                <a:spcPts val="1200"/>
              </a:spcAft>
              <a:defRPr sz="2100"/>
            </a:pPr>
            <a:r>
              <a:t>Therefore: 10 ÷ 5 = 2, remainder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Class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1. Create a program to add 3 values.</a:t>
            </a:r>
          </a:p>
          <a:p>
            <a:pPr>
              <a:spcAft>
                <a:spcPts val="1200"/>
              </a:spcAft>
              <a:defRPr sz="2100"/>
            </a:pPr>
            <a:r>
              <a:t>2. Create a program that subtracts two numbers and gives the difference.</a:t>
            </a:r>
          </a:p>
          <a:p>
            <a:pPr>
              <a:spcAft>
                <a:spcPts val="1200"/>
              </a:spcAft>
              <a:defRPr sz="2100"/>
            </a:pPr>
            <a:r>
              <a:t>3. Use MUL in a program and show the result.</a:t>
            </a:r>
          </a:p>
          <a:p>
            <a:pPr>
              <a:spcAft>
                <a:spcPts val="1200"/>
              </a:spcAft>
              <a:defRPr sz="2100"/>
            </a:pPr>
            <a:r>
              <a:t>4. Divide 10 by 5 and show the quotient and remainder.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</a:defRPr>
            </a:pPr>
            <a:r>
              <a:t>Quick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INC → increase by 1</a:t>
            </a:r>
          </a:p>
          <a:p>
            <a:pPr>
              <a:spcAft>
                <a:spcPts val="1200"/>
              </a:spcAft>
              <a:defRPr sz="2100"/>
            </a:pPr>
            <a:r>
              <a:t>DEC → decrease by 1</a:t>
            </a:r>
          </a:p>
          <a:p>
            <a:pPr>
              <a:spcAft>
                <a:spcPts val="1200"/>
              </a:spcAft>
              <a:defRPr sz="2100"/>
            </a:pPr>
            <a:r>
              <a:t>ADD → addition</a:t>
            </a:r>
          </a:p>
          <a:p>
            <a:pPr>
              <a:spcAft>
                <a:spcPts val="1200"/>
              </a:spcAft>
              <a:defRPr sz="2100"/>
            </a:pPr>
            <a:r>
              <a:t>SUB → subtraction</a:t>
            </a:r>
          </a:p>
          <a:p>
            <a:pPr>
              <a:spcAft>
                <a:spcPts val="1200"/>
              </a:spcAft>
              <a:defRPr sz="2100"/>
            </a:pPr>
            <a:r>
              <a:t>MUL → unsigned multiplication</a:t>
            </a:r>
          </a:p>
          <a:p>
            <a:pPr>
              <a:spcAft>
                <a:spcPts val="1200"/>
              </a:spcAft>
              <a:defRPr sz="2100"/>
            </a:pPr>
            <a:r>
              <a:t>DIV → unsigned division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