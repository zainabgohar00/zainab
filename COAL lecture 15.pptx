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Input / Output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ptos"/>
              </a:defRPr>
            </a:pPr>
            <a:r>
              <a:t>Computer Organization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Aptos"/>
              </a:defRPr>
            </a:pPr>
            <a:r>
              <a:t>An interface is a point of interaction or communication between two systems, devices, components, or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latin typeface="Aptos"/>
              </a:defRPr>
            </a:pPr>
            <a:r>
              <a:t>Why interfaces are needed: to allow the processor and peripheral devices to communicate, synchronize, and exchange data correctly.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709160"/>
            <a:ext cx="219456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latin typeface="Aptos"/>
              </a:defRPr>
            </a:pPr>
            <a:r>
              <a:t>Processor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4709160"/>
            <a:ext cx="219456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latin typeface="Aptos"/>
              </a:defRPr>
            </a:pPr>
            <a:r>
              <a:t>I/O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709160"/>
            <a:ext cx="219456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latin typeface="Aptos"/>
              </a:defRPr>
            </a:pPr>
            <a:r>
              <a:t>Peripheral Device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5102352"/>
            <a:ext cx="1783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78040" y="5102352"/>
            <a:ext cx="1783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What is an Interface?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latin typeface="Aptos"/>
              </a:defRPr>
            </a:pPr>
            <a:r>
              <a:t>Interface: It is a point of interaction or communication between two systems, devices, components, or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Aptos"/>
              </a:defRPr>
            </a:pPr>
            <a:r>
              <a:t>In computer systems, an interface provides the communication path and supporting logic needed to connect the processor with other components or peripheral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Aptos"/>
              </a:defRPr>
            </a:pPr>
            <a:r>
              <a:t>Examples: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657600"/>
            <a:ext cx="10241280" cy="23774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User Interface → menus + icons</a:t>
            </a:r>
          </a:p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Graphical Interface → windows, icons, menus</a:t>
            </a:r>
          </a:p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Hardware Interface → USB</a:t>
            </a:r>
          </a:p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Network Interface → NIC (Network Interface Card)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Input / Output Interface: System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057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latin typeface="Aptos"/>
              </a:defRPr>
            </a:pPr>
            <a:r>
              <a:t>Processor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88920" y="2148840"/>
            <a:ext cx="7863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1984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Aptos"/>
              </a:defRPr>
            </a:pPr>
            <a:r>
              <a:t>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2423160"/>
            <a:ext cx="7863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9920" y="2258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Aptos"/>
              </a:defRPr>
            </a:pPr>
            <a:r>
              <a:t>Address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697480"/>
            <a:ext cx="7863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789920" y="2532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Aptos"/>
              </a:defRPr>
            </a:pPr>
            <a:r>
              <a:t>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474720"/>
            <a:ext cx="160020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461772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latin typeface="Aptos"/>
              </a:defRPr>
            </a:pPr>
            <a:r>
              <a:t>Keyboard and</a:t>
            </a:r>
            <a:br/>
            <a:r>
              <a:t>Display Terminal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547872" y="2743200"/>
            <a:ext cx="0" cy="7315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0" y="3474720"/>
            <a:ext cx="160020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461772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latin typeface="Aptos"/>
              </a:defRPr>
            </a:pPr>
            <a:r>
              <a:t>Printers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473952" y="2743200"/>
            <a:ext cx="0" cy="7315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49640" y="3474720"/>
            <a:ext cx="160020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617720"/>
            <a:ext cx="2057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latin typeface="Aptos"/>
              </a:defRPr>
            </a:pPr>
            <a:r>
              <a:t>Magnetic</a:t>
            </a:r>
            <a:br/>
            <a:r>
              <a:t>Disc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354312" y="2743200"/>
            <a:ext cx="0" cy="7315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latin typeface="Aptos"/>
              </a:defRPr>
            </a:pPr>
            <a:r>
              <a:t>Buses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Aptos"/>
              </a:defRPr>
            </a:pPr>
            <a:r>
              <a:t>The processor communicates with interfaces over data, address, and control buses.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Why Do We Use an I/O Interface?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52760" cy="50292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CPU is very fast, while peripheral devices are slow. To synchronize the CPU and peripheral devices, we use an interface.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Keyboard sends data; the interface collects it and sends it collectively.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Processor + main memory are electronic/electronic devices, while some peripheral devices are electromechanical devices. They can have different signals; the interface integrates these signals.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For making data words compatible to the processor.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To harmonize the instruction logic of I/O devices for the processor.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Interrupts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latin typeface="Aptos"/>
              </a:defRPr>
            </a:pPr>
            <a:r>
              <a:t>An interrupt is a signal sent to the CPU by software or hardware to temporarily pause its current program/task so that an important event can be serviced.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latin typeface="Aptos"/>
              </a:defRPr>
            </a:pPr>
            <a:r>
              <a:t>Basic idea: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546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latin typeface="Aptos"/>
              </a:defRPr>
            </a:pPr>
            <a:r>
              <a:t>Interrupt</a:t>
            </a:r>
            <a:br/>
            <a:r>
              <a:t>Occurs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3611880"/>
            <a:ext cx="1005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3154680"/>
            <a:ext cx="2468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CPU temporarily</a:t>
            </a:r>
            <a:br/>
            <a:r>
              <a:t>pauses current task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26480" y="3611880"/>
            <a:ext cx="10058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0" y="3154680"/>
            <a:ext cx="2468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Execute Interrupt</a:t>
            </a:r>
            <a:br/>
            <a:r>
              <a:t>Service Routine (ISR)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0" y="3611880"/>
            <a:ext cx="9601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561320" y="3154680"/>
            <a:ext cx="10515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Aptos"/>
              </a:defRPr>
            </a:pPr>
            <a:r>
              <a:t>Return to</a:t>
            </a:r>
            <a:br/>
            <a: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tos"/>
              </a:defRPr>
            </a:pPr>
            <a:r>
              <a:t>ISR = Interrupt Service Routine: the routine that handles the interrupt.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1. Hardware Interrupts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23774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 hardware interrupt is generated by a hardware device to request the CPU's attention.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In the 8085, TRAP, RST 7.5, and RST 6.5 are hardware interrupt pins that generate interrupt signals.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TRAP has the highest priority among the 8085 hardware interrupts listed here.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Examples: pressing a keyboard key, mouse click, USB drive activity.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977639"/>
            <a:ext cx="20574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Keyboard sends</a:t>
            </a:r>
            <a:br/>
            <a:r>
              <a:t>an interrupt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4389120"/>
            <a:ext cx="9144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3977639"/>
            <a:ext cx="21031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CPU temporarily</a:t>
            </a:r>
            <a:br/>
            <a:r>
              <a:t>pauses its task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4389120"/>
            <a:ext cx="9144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675120" y="3977639"/>
            <a:ext cx="20574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Executes the</a:t>
            </a:r>
            <a:br/>
            <a:r>
              <a:t>ISR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32520" y="4389120"/>
            <a:ext cx="9144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46920" y="3977639"/>
            <a:ext cx="1874519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CPU returns to the</a:t>
            </a:r>
            <a:br/>
            <a:r>
              <a:t>interrupted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2. Software Interrupts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5603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 software interrupt is generated by a program or instruction.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The INT instruction is commonly used to generate a software interrupt.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Example: INT 21H (commonly used in DOS-era x86 programming for operating-system services).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The software interrupt causes the CPU to transfer control to an interrupt service routine and then return to the program.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931920"/>
            <a:ext cx="15544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Program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8840" y="4389120"/>
            <a:ext cx="5943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393192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Software</a:t>
            </a:r>
            <a:br/>
            <a:r>
              <a:t>interrupt</a:t>
            </a:r>
            <a:br/>
            <a:r>
              <a:t>instruction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4389120"/>
            <a:ext cx="4114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83480" y="3931920"/>
            <a:ext cx="12801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CPU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4389120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03720" y="393192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Interrupt</a:t>
            </a:r>
            <a:br/>
            <a:r>
              <a:t>Service</a:t>
            </a:r>
            <a:br/>
            <a:r>
              <a:t>Routine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32520" y="438912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89720" y="3931920"/>
            <a:ext cx="16459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Return</a:t>
            </a:r>
            <a:br/>
            <a:r>
              <a:t>to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Aptos"/>
              </a:defRPr>
            </a:pPr>
            <a:r>
              <a:t>Note from the notes: Software interrupt was described as having higher priority than hardware interrupts. In actual processor architectures, priority rules depend on the specific CPU/interrupt mechanism.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3. Vectored Interrupts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24688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A vectored interrupt is an interrupt in which the CPU can directly identify the address of the Interrupt Service Routine (ISR).</a:t>
            </a:r>
          </a:p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The interrupt vector provides the address or reference needed to locate the appropriate ISR.</a:t>
            </a:r>
          </a:p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Because the ISR location can be obtained directly, vectored interrupts are generally faster and more organized.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069080"/>
            <a:ext cx="18288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latin typeface="Aptos"/>
              </a:defRPr>
            </a:pPr>
            <a:r>
              <a:t>Interrupt</a:t>
            </a:r>
            <a:br/>
            <a:r>
              <a:t>Occurs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4498848"/>
            <a:ext cx="10972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4069080"/>
            <a:ext cx="18288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latin typeface="Aptos"/>
              </a:defRPr>
            </a:pPr>
            <a:r>
              <a:t>Interrupt</a:t>
            </a:r>
            <a:br/>
            <a:r>
              <a:t>Vector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4498848"/>
            <a:ext cx="10972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0" y="4069080"/>
            <a:ext cx="18288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latin typeface="Aptos"/>
              </a:defRPr>
            </a:pPr>
            <a:r>
              <a:t>ISR Address</a:t>
            </a:r>
            <a:br/>
            <a:r>
              <a:t>Located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4498848"/>
            <a:ext cx="10972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509760" y="4069080"/>
            <a:ext cx="173736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latin typeface="Aptos"/>
              </a:defRPr>
            </a:pPr>
            <a:r>
              <a:t>ISR</a:t>
            </a:r>
            <a:br/>
            <a:r>
              <a:t>Executes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4. Non-Vectored Interrupts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92608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In a non-vectored interrupt, the ISR address is not directly supplied by the interrupt.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The CPU needs additional steps to determine the interrupt source and the appropriate ISR.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An interrupt controller or other mechanism may be used to identify which device requested service.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The CPU then determines the address of the appropriate ISR.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Non-vectored interrupts are generally slower than vectored interrupts because additional identification steps are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343400"/>
            <a:ext cx="164592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Interrupt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8840" y="4773168"/>
            <a:ext cx="5943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4343400"/>
            <a:ext cx="18288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Identify</a:t>
            </a:r>
            <a:br/>
            <a:r>
              <a:t>source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4773168"/>
            <a:ext cx="5029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4343400"/>
            <a:ext cx="182880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Determine</a:t>
            </a:r>
            <a:br/>
            <a:r>
              <a:t>ISR address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03720" y="4773168"/>
            <a:ext cx="5029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06640" y="4343400"/>
            <a:ext cx="164592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Execute</a:t>
            </a:r>
            <a:br/>
            <a:r>
              <a:t>ISR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4773168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92640" y="4343400"/>
            <a:ext cx="164592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Return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CPU Steps in a Non-Vectored Interrupt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972800" cy="53949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1. Interrupt occurs — a device sends an interrupt request to the CPU.</a:t>
            </a:r>
          </a:p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2. CPU completes the current instruction.</a:t>
            </a:r>
          </a:p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3. CPU saves the current program state, such as the program counter and status information.</a:t>
            </a:r>
          </a:p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4. CPU acknowledges the interrupt.</a:t>
            </a:r>
          </a:p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5. CPU identifies the interrupt source.</a:t>
            </a:r>
          </a:p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6. CPU determines or obtains the address of the appropriate ISR.</a:t>
            </a:r>
          </a:p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7. CPU executes the ISR.</a:t>
            </a:r>
          </a:p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8. CPU restores the saved processor state.</a:t>
            </a:r>
          </a:p>
          <a:p>
            <a:pPr>
              <a:spcAft>
                <a:spcPts val="800"/>
              </a:spcAft>
              <a:defRPr sz="1700" b="0">
                <a:latin typeface="Aptos"/>
              </a:defRPr>
            </a:pPr>
            <a:r>
              <a:t>9. CPU resumes the interrupted program.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5. Maskable Interrupts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 maskable interrupt is a hardware interrupt that the CPU can temporarily ignore, disable, or postpone.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The CPU uses an interrupt mask or interrupt-enable mechanism to control whether the interrupt is accepted.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If enabled → CPU accepts and services the interrupt.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If disabled/masked → CPU temporarily ignores or delays the interrupt.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Example: a timer generates an interrupt, and the CPU can mask the interrupt temporarily while performing a critical operation.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00600"/>
            <a:ext cx="182880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Interrupt</a:t>
            </a:r>
            <a:br/>
            <a:r>
              <a:t>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5193792"/>
            <a:ext cx="1005839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49039" y="4800600"/>
            <a:ext cx="219456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latin typeface="Aptos"/>
              </a:defRPr>
            </a:pPr>
            <a:r>
              <a:t>Check</a:t>
            </a:r>
            <a:br/>
            <a:r>
              <a:t>interrupt mask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5193792"/>
            <a:ext cx="9144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0" y="4617720"/>
            <a:ext cx="18288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Enabled →</a:t>
            </a:r>
            <a:br/>
            <a:r>
              <a:t>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4617720"/>
            <a:ext cx="18288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latin typeface="Aptos"/>
              </a:defRPr>
            </a:pPr>
            <a:r>
              <a:t>Masked →</a:t>
            </a:r>
            <a:br/>
            <a:r>
              <a:t>Delay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6. Non-Maskable Interrupts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28346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A non-maskable interrupt (NMI) cannot normally be ignored or disabled by the CPU.</a:t>
            </a:r>
          </a:p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It is used for critical events where immediate attention is required.</a:t>
            </a:r>
          </a:p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The CPU must respond to the interrupt.</a:t>
            </a:r>
          </a:p>
          <a:p>
            <a:pPr>
              <a:spcAft>
                <a:spcPts val="800"/>
              </a:spcAft>
              <a:defRPr sz="2100" b="0">
                <a:latin typeface="Aptos"/>
              </a:defRPr>
            </a:pPr>
            <a:r>
              <a:t>Example: a serious hardware failure or other critical hardware condition.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452628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latin typeface="Aptos"/>
              </a:defRPr>
            </a:pPr>
            <a:r>
              <a:t>Critical hardware</a:t>
            </a:r>
            <a:br/>
            <a:r>
              <a:t>event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4983480"/>
            <a:ext cx="12801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0" y="452628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latin typeface="Aptos"/>
              </a:defRPr>
            </a:pPr>
            <a:r>
              <a:t>NMI signal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0" y="4983480"/>
            <a:ext cx="12801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80960" y="452628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latin typeface="Aptos"/>
              </a:defRPr>
            </a:pPr>
            <a:r>
              <a:t>CPU responds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92640" y="4983480"/>
            <a:ext cx="9144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Interrupt Types — Quick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325880"/>
          <a:ext cx="110185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5897880"/>
              </a:tblGrid>
              <a:tr h="698862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Generated / Identified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Key Characteristic</a:t>
                      </a:r>
                    </a:p>
                  </a:txBody>
                  <a:tcPr/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Hardware 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Device requests CPU attention</a:t>
                      </a:r>
                    </a:p>
                  </a:txBody>
                  <a:tcPr/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Program /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Requests a software/OS service</a:t>
                      </a:r>
                    </a:p>
                  </a:txBody>
                  <a:tcPr/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Vectored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Interrupt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CPU can locate ISR directly</a:t>
                      </a:r>
                    </a:p>
                  </a:txBody>
                  <a:tcPr/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Non-vectored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Interrupt + source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Additional steps needed to locate ISR</a:t>
                      </a:r>
                    </a:p>
                  </a:txBody>
                  <a:tcPr/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Maskable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Hardware interrupt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Can be temporarily disabled/delayed</a:t>
                      </a:r>
                    </a:p>
                  </a:txBody>
                  <a:tcPr/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Non-maskable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Critical hardware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Cannot normally be ignored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07040" cy="50292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An I/O interface connects the processor with peripheral devices and helps synchronize communication.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Interfaces handle differences in speed, signals, data compatibility, and I/O-device logic.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An interrupt temporarily diverts CPU attention to an important event through an ISR.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Hardware interrupts originate from devices; software interrupts originate from programs/instructions.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Vectored interrupts provide a direct way to locate the ISR; non-vectored interrupts require additional identification steps.</a:t>
            </a:r>
          </a:p>
          <a:p>
            <a:pPr>
              <a:spcAft>
                <a:spcPts val="800"/>
              </a:spcAft>
              <a:defRPr sz="2000" b="0">
                <a:latin typeface="Aptos"/>
              </a:defRPr>
            </a:pPr>
            <a:r>
              <a:t>Maskable interrupts can be temporarily disabled or delayed; non-maskable interrupts are reserved for critical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