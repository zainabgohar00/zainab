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60" r:id="rId1"/>
  </p:sldMasterIdLst>
  <p:notesMasterIdLst>
    <p:notesMasterId r:id="rId2"/>
  </p:notesMasterIdLst>
  <p:sldIdLst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0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0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/>
      </p:grpSpPr>
      <p:sp>
        <p:nvSpPr>
          <p:cNvPr id="1048584" name="TextBox 1"/>
          <p:cNvSpPr txBox="1"/>
          <p:nvPr/>
        </p:nvSpPr>
        <p:spPr>
          <a:xfrm>
            <a:off x="914400" y="2103120"/>
            <a:ext cx="7678907" cy="1069341"/>
          </a:xfrm>
          <a:prstGeom prst="rect"/>
          <a:noFill/>
        </p:spPr>
        <p:txBody>
          <a:bodyPr wrap="none">
            <a:spAutoFit/>
          </a:bodyPr>
          <a:p>
            <a:pPr>
              <a:defRPr b="1" sz="4000"/>
            </a:pPr>
            <a:r>
              <a:t>DOS Function Calls</a:t>
            </a:r>
          </a:p>
          <a:p>
            <a:pPr>
              <a:defRPr sz="2600"/>
            </a:pPr>
            <a:r>
              <a:t>Assembly Language — Complete Program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585" name="TextBox 1"/>
          <p:cNvSpPr txBox="1"/>
          <p:nvPr/>
        </p:nvSpPr>
        <p:spPr>
          <a:xfrm>
            <a:off x="594360" y="320040"/>
            <a:ext cx="5055613" cy="535940"/>
          </a:xfrm>
          <a:prstGeom prst="rect"/>
          <a:noFill/>
        </p:spPr>
        <p:txBody>
          <a:bodyPr wrap="none">
            <a:spAutoFit/>
          </a:bodyPr>
          <a:p>
            <a:pPr>
              <a:defRPr b="1" sz="3000"/>
            </a:pPr>
            <a:r>
              <a:t>What is a DOS Function Call?</a:t>
            </a:r>
          </a:p>
        </p:txBody>
      </p:sp>
      <p:sp>
        <p:nvSpPr>
          <p:cNvPr id="1048586" name="TextBox 2"/>
          <p:cNvSpPr txBox="1"/>
          <p:nvPr/>
        </p:nvSpPr>
        <p:spPr>
          <a:xfrm>
            <a:off x="731520" y="1188720"/>
            <a:ext cx="10698480" cy="16662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sz="2100"/>
            </a:pPr>
            <a:r>
              <a:t>A DOS function call is a service provided by the DOS operating system.</a:t>
            </a:r>
          </a:p>
          <a:p>
            <a:pPr>
              <a:spcAft>
                <a:spcPts val="1400"/>
              </a:spcAft>
              <a:defRPr sz="2100"/>
            </a:pPr>
            <a:r>
              <a:t>It allows an assembly program to request services such as displaying text, reading input, and terminating a program.</a:t>
            </a:r>
          </a:p>
          <a:p>
            <a:pPr>
              <a:spcAft>
                <a:spcPts val="1400"/>
              </a:spcAft>
              <a:defRPr sz="2100"/>
            </a:pPr>
            <a:r>
              <a:t>DOS services are commonly accessed using INT 21H.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587" name="TextBox 1"/>
          <p:cNvSpPr txBox="1"/>
          <p:nvPr/>
        </p:nvSpPr>
        <p:spPr>
          <a:xfrm>
            <a:off x="594360" y="320040"/>
            <a:ext cx="2770158" cy="535940"/>
          </a:xfrm>
          <a:prstGeom prst="rect"/>
          <a:noFill/>
        </p:spPr>
        <p:txBody>
          <a:bodyPr wrap="none">
            <a:spAutoFit/>
          </a:bodyPr>
          <a:p>
            <a:pPr>
              <a:defRPr b="1" sz="3000"/>
            </a:pPr>
            <a:r>
              <a:t>Basic Structure</a:t>
            </a:r>
          </a:p>
        </p:txBody>
      </p:sp>
      <p:sp>
        <p:nvSpPr>
          <p:cNvPr id="1048588" name="TextBox 2"/>
          <p:cNvSpPr txBox="1"/>
          <p:nvPr/>
        </p:nvSpPr>
        <p:spPr>
          <a:xfrm>
            <a:off x="731520" y="1188720"/>
            <a:ext cx="10698480" cy="13614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sz="2100"/>
            </a:pPr>
            <a:r>
              <a:t>The function number is placed in register AH.</a:t>
            </a:r>
          </a:p>
          <a:p>
            <a:pPr>
              <a:spcAft>
                <a:spcPts val="1400"/>
              </a:spcAft>
              <a:defRPr sz="2100"/>
            </a:pPr>
            <a:r>
              <a:t>INT 21H transfers control to DOS.</a:t>
            </a:r>
          </a:p>
          <a:p>
            <a:pPr>
              <a:spcAft>
                <a:spcPts val="1400"/>
              </a:spcAft>
              <a:defRPr sz="2100"/>
            </a:pPr>
            <a:r>
              <a:t>DOS performs the requested service and returns to the program.</a:t>
            </a:r>
          </a:p>
        </p:txBody>
      </p:sp>
      <p:sp>
        <p:nvSpPr>
          <p:cNvPr id="1048589" name="TextBox 3"/>
          <p:cNvSpPr txBox="1"/>
          <p:nvPr/>
        </p:nvSpPr>
        <p:spPr>
          <a:xfrm>
            <a:off x="685800" y="3657600"/>
            <a:ext cx="10789920" cy="574041"/>
          </a:xfrm>
          <a:prstGeom prst="rect"/>
          <a:noFill/>
        </p:spPr>
        <p:txBody>
          <a:bodyPr wrap="square">
            <a:spAutoFit/>
          </a:bodyPr>
          <a:p>
            <a:pPr>
              <a:defRPr sz="1600">
                <a:latin typeface="Consolas"/>
              </a:defRPr>
            </a:pPr>
            <a:r>
              <a:t>MOV AH, function_number</a:t>
            </a:r>
            <a:br/>
            <a:r>
              <a:t>INT 21H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/>
      </p:grpSpPr>
      <p:sp>
        <p:nvSpPr>
          <p:cNvPr id="1048590" name="TextBox 1"/>
          <p:cNvSpPr txBox="1"/>
          <p:nvPr/>
        </p:nvSpPr>
        <p:spPr>
          <a:xfrm>
            <a:off x="594360" y="320040"/>
            <a:ext cx="4357113" cy="535940"/>
          </a:xfrm>
          <a:prstGeom prst="rect"/>
          <a:noFill/>
        </p:spPr>
        <p:txBody>
          <a:bodyPr wrap="none">
            <a:spAutoFit/>
          </a:bodyPr>
          <a:p>
            <a:pPr>
              <a:defRPr b="1" sz="3000"/>
            </a:pPr>
            <a:r>
              <a:t>Common DOS Functions</a:t>
            </a:r>
          </a:p>
        </p:txBody>
      </p:sp>
      <p:sp>
        <p:nvSpPr>
          <p:cNvPr id="1048591" name="TextBox 2"/>
          <p:cNvSpPr txBox="1"/>
          <p:nvPr/>
        </p:nvSpPr>
        <p:spPr>
          <a:xfrm>
            <a:off x="731520" y="1188720"/>
            <a:ext cx="10698480" cy="18440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sz="2100"/>
            </a:pPr>
            <a:r>
              <a:t>AH = 01H → Read a character from keyboard.</a:t>
            </a:r>
          </a:p>
          <a:p>
            <a:pPr>
              <a:spcAft>
                <a:spcPts val="1400"/>
              </a:spcAft>
              <a:defRPr sz="2100"/>
            </a:pPr>
            <a:r>
              <a:t>AH = 02H → Display one character.</a:t>
            </a:r>
          </a:p>
          <a:p>
            <a:pPr>
              <a:spcAft>
                <a:spcPts val="1400"/>
              </a:spcAft>
              <a:defRPr sz="2100"/>
            </a:pPr>
            <a:r>
              <a:t>AH = 09H → Display a string.</a:t>
            </a:r>
          </a:p>
          <a:p>
            <a:pPr>
              <a:spcAft>
                <a:spcPts val="1400"/>
              </a:spcAft>
              <a:defRPr sz="2100"/>
            </a:pPr>
            <a:r>
              <a:t>AH = 4CH → Terminate the program.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592" name="TextBox 1"/>
          <p:cNvSpPr txBox="1"/>
          <p:nvPr/>
        </p:nvSpPr>
        <p:spPr>
          <a:xfrm>
            <a:off x="594360" y="320040"/>
            <a:ext cx="5243334" cy="535940"/>
          </a:xfrm>
          <a:prstGeom prst="rect"/>
          <a:noFill/>
        </p:spPr>
        <p:txBody>
          <a:bodyPr wrap="none">
            <a:spAutoFit/>
          </a:bodyPr>
          <a:p>
            <a:pPr>
              <a:defRPr b="1" sz="3000"/>
            </a:pPr>
            <a:r>
              <a:t>Function 09H — Display String</a:t>
            </a:r>
          </a:p>
        </p:txBody>
      </p:sp>
      <p:sp>
        <p:nvSpPr>
          <p:cNvPr id="1048593" name="TextBox 2"/>
          <p:cNvSpPr txBox="1"/>
          <p:nvPr/>
        </p:nvSpPr>
        <p:spPr>
          <a:xfrm>
            <a:off x="731520" y="1188720"/>
            <a:ext cx="10698480" cy="13614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sz="2100"/>
            </a:pPr>
            <a:r>
              <a:t>AH = 09H selects the Display String function.</a:t>
            </a:r>
          </a:p>
          <a:p>
            <a:pPr>
              <a:spcAft>
                <a:spcPts val="1400"/>
              </a:spcAft>
              <a:defRPr sz="2100"/>
            </a:pPr>
            <a:r>
              <a:t>DX must contain the address of the string.</a:t>
            </a:r>
          </a:p>
          <a:p>
            <a:pPr>
              <a:spcAft>
                <a:spcPts val="1400"/>
              </a:spcAft>
              <a:defRPr sz="2100"/>
            </a:pPr>
            <a:r>
              <a:t>The string must end with the $ character.</a:t>
            </a:r>
          </a:p>
        </p:txBody>
      </p:sp>
      <p:sp>
        <p:nvSpPr>
          <p:cNvPr id="1048594" name="TextBox 3"/>
          <p:cNvSpPr txBox="1"/>
          <p:nvPr/>
        </p:nvSpPr>
        <p:spPr>
          <a:xfrm>
            <a:off x="685800" y="3657600"/>
            <a:ext cx="10789920" cy="815341"/>
          </a:xfrm>
          <a:prstGeom prst="rect"/>
          <a:noFill/>
        </p:spPr>
        <p:txBody>
          <a:bodyPr wrap="square">
            <a:spAutoFit/>
          </a:bodyPr>
          <a:p>
            <a:pPr>
              <a:defRPr sz="1600">
                <a:latin typeface="Consolas"/>
              </a:defRPr>
            </a:pPr>
            <a:r>
              <a:t>MOV AH, 09H</a:t>
            </a:r>
            <a:br/>
            <a:r>
              <a:t>LEA DX, MSG</a:t>
            </a:r>
            <a:br/>
            <a:r>
              <a:t>INT 21H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/>
      </p:grpSpPr>
      <p:sp>
        <p:nvSpPr>
          <p:cNvPr id="1048595" name="TextBox 1"/>
          <p:cNvSpPr txBox="1"/>
          <p:nvPr/>
        </p:nvSpPr>
        <p:spPr>
          <a:xfrm>
            <a:off x="594360" y="320040"/>
            <a:ext cx="6963440" cy="535940"/>
          </a:xfrm>
          <a:prstGeom prst="rect"/>
          <a:noFill/>
        </p:spPr>
        <p:txBody>
          <a:bodyPr wrap="none">
            <a:spAutoFit/>
          </a:bodyPr>
          <a:p>
            <a:pPr>
              <a:defRPr b="1" sz="3000"/>
            </a:pPr>
            <a:r>
              <a:t>Complete Program — Display a Message</a:t>
            </a:r>
          </a:p>
        </p:txBody>
      </p:sp>
      <p:sp>
        <p:nvSpPr>
          <p:cNvPr id="1048596" name="TextBox 2"/>
          <p:cNvSpPr txBox="1"/>
          <p:nvPr/>
        </p:nvSpPr>
        <p:spPr>
          <a:xfrm>
            <a:off x="685800" y="1234440"/>
            <a:ext cx="10789920" cy="5882640"/>
          </a:xfrm>
          <a:prstGeom prst="rect"/>
          <a:noFill/>
        </p:spPr>
        <p:txBody>
          <a:bodyPr wrap="square">
            <a:spAutoFit/>
          </a:bodyPr>
          <a:p>
            <a:pPr>
              <a:defRPr sz="1600">
                <a:latin typeface="Consolas"/>
              </a:defRPr>
            </a:pPr>
            <a:r>
              <a:t>; Display a message using DOS INT 21H</a:t>
            </a:r>
            <a:br/>
            <a:br/>
            <a:r>
              <a:t>.MODEL SMALL</a:t>
            </a:r>
            <a:br/>
            <a:r>
              <a:t>.STACK 100H</a:t>
            </a:r>
            <a:br/>
            <a:br/>
            <a:r>
              <a:t>.DATA</a:t>
            </a:r>
            <a:br/>
            <a:r>
              <a:t>    MSG DB 'Hello, Assembly Language!$'</a:t>
            </a:r>
            <a:br/>
            <a:br/>
            <a:r>
              <a:t>.CODE</a:t>
            </a:r>
            <a:br/>
            <a:r>
              <a:t>MAIN PROC</a:t>
            </a:r>
            <a:br/>
            <a:r>
              <a:t>    MOV AX, @DATA</a:t>
            </a:r>
            <a:br/>
            <a:r>
              <a:t>    MOV DS, AX</a:t>
            </a:r>
            <a:br/>
            <a:br/>
            <a:r>
              <a:t>    ; Display String</a:t>
            </a:r>
            <a:br/>
            <a:r>
              <a:t>    MOV AH, 09H</a:t>
            </a:r>
            <a:br/>
            <a:r>
              <a:t>    LEA DX, MSG</a:t>
            </a:r>
            <a:br/>
            <a:r>
              <a:t>    INT 21H</a:t>
            </a:r>
            <a:br/>
            <a:br/>
            <a:r>
              <a:t>    ; Exit Program</a:t>
            </a:r>
            <a:br/>
            <a:r>
              <a:t>    MOV AH, 4CH</a:t>
            </a:r>
            <a:br/>
            <a:r>
              <a:t>    INT 21H</a:t>
            </a:r>
            <a:br/>
            <a:br/>
            <a:r>
              <a:t>MAIN ENDP</a:t>
            </a:r>
            <a:br/>
            <a:r>
              <a:t>END 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597" name="TextBox 1"/>
          <p:cNvSpPr txBox="1"/>
          <p:nvPr/>
        </p:nvSpPr>
        <p:spPr>
          <a:xfrm>
            <a:off x="594360" y="320040"/>
            <a:ext cx="3702318" cy="535940"/>
          </a:xfrm>
          <a:prstGeom prst="rect"/>
          <a:noFill/>
        </p:spPr>
        <p:txBody>
          <a:bodyPr wrap="none">
            <a:spAutoFit/>
          </a:bodyPr>
          <a:p>
            <a:pPr>
              <a:defRPr b="1" sz="3000"/>
            </a:pPr>
            <a:r>
              <a:t>Program Explanation</a:t>
            </a:r>
          </a:p>
        </p:txBody>
      </p:sp>
      <p:sp>
        <p:nvSpPr>
          <p:cNvPr id="1048598" name="TextBox 2"/>
          <p:cNvSpPr txBox="1"/>
          <p:nvPr/>
        </p:nvSpPr>
        <p:spPr>
          <a:xfrm>
            <a:off x="731520" y="1188720"/>
            <a:ext cx="10698480" cy="26314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sz="2100"/>
            </a:pPr>
            <a:r>
              <a:t>MSG stores the text and ends with '$' because Function 09H uses '$' as the string terminator.</a:t>
            </a:r>
          </a:p>
          <a:p>
            <a:pPr>
              <a:spcAft>
                <a:spcPts val="1400"/>
              </a:spcAft>
              <a:defRPr sz="2100"/>
            </a:pPr>
            <a:r>
              <a:t>MOV AX, @DATA and MOV DS, AX initialize the data segment.</a:t>
            </a:r>
          </a:p>
          <a:p>
            <a:pPr>
              <a:spcAft>
                <a:spcPts val="1400"/>
              </a:spcAft>
              <a:defRPr sz="2100"/>
            </a:pPr>
            <a:r>
              <a:t>AH = 09H selects the display-string service.</a:t>
            </a:r>
          </a:p>
          <a:p>
            <a:pPr>
              <a:spcAft>
                <a:spcPts val="1400"/>
              </a:spcAft>
              <a:defRPr sz="2100"/>
            </a:pPr>
            <a:r>
              <a:t>LEA DX, MSG gives DOS the address of the message.</a:t>
            </a:r>
          </a:p>
          <a:p>
            <a:pPr>
              <a:spcAft>
                <a:spcPts val="1400"/>
              </a:spcAft>
              <a:defRPr sz="2100"/>
            </a:pPr>
            <a:r>
              <a:t>AH = 4CH terminates the program.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599" name="TextBox 1"/>
          <p:cNvSpPr txBox="1"/>
          <p:nvPr/>
        </p:nvSpPr>
        <p:spPr>
          <a:xfrm>
            <a:off x="594360" y="320040"/>
            <a:ext cx="3014981" cy="535940"/>
          </a:xfrm>
          <a:prstGeom prst="rect"/>
          <a:noFill/>
        </p:spPr>
        <p:txBody>
          <a:bodyPr wrap="none">
            <a:spAutoFit/>
          </a:bodyPr>
          <a:p>
            <a:pPr>
              <a:defRPr b="1" sz="3000"/>
            </a:pPr>
            <a:r>
              <a:t>Expected Output</a:t>
            </a:r>
          </a:p>
        </p:txBody>
      </p:sp>
      <p:sp>
        <p:nvSpPr>
          <p:cNvPr id="1048600" name="TextBox 2"/>
          <p:cNvSpPr txBox="1"/>
          <p:nvPr/>
        </p:nvSpPr>
        <p:spPr>
          <a:xfrm>
            <a:off x="731520" y="1188720"/>
            <a:ext cx="10698480" cy="3962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1400"/>
              </a:spcAft>
              <a:defRPr sz="2100"/>
            </a:pPr>
            <a:r>
              <a:t>When the program is executed, DOS displays:</a:t>
            </a:r>
          </a:p>
        </p:txBody>
      </p:sp>
      <p:sp>
        <p:nvSpPr>
          <p:cNvPr id="1048601" name="TextBox 3"/>
          <p:cNvSpPr txBox="1"/>
          <p:nvPr/>
        </p:nvSpPr>
        <p:spPr>
          <a:xfrm>
            <a:off x="685800" y="3657600"/>
            <a:ext cx="10789920" cy="332740"/>
          </a:xfrm>
          <a:prstGeom prst="rect"/>
          <a:noFill/>
        </p:spPr>
        <p:txBody>
          <a:bodyPr wrap="square">
            <a:spAutoFit/>
          </a:bodyPr>
          <a:p>
            <a:pPr>
              <a:defRPr sz="1600">
                <a:latin typeface="Consolas"/>
              </a:defRPr>
            </a:pPr>
            <a:r>
              <a:t>Hello, Assembly Language!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TECNO KJ7</dc:creator>
  <cp:lastModifiedBy>Steve Canny</cp:lastModifiedBy>
  <dcterms:created xsi:type="dcterms:W3CDTF">2013-01-26T23:14:16Z</dcterms:created>
  <dcterms:modified xsi:type="dcterms:W3CDTF">2026-08-23T07:08:05Z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8fd8e3c132f14345b393710452be0e16</vt:lpwstr>
  </property>
</Properties>
</file>