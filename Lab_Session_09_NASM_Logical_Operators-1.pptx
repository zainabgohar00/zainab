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C304A"/>
                </a:solidFill>
              </a:defRPr>
            </a:pPr>
            <a:r>
              <a:rPr>
                <a:solidFill>
                  <a:srgbClr val="000000"/>
                </a:solidFill>
              </a:rPr>
              <a:t>Lab Session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718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>
                <a:solidFill>
                  <a:srgbClr val="34699A"/>
                </a:solidFill>
              </a:defRPr>
            </a:pPr>
            <a:r>
              <a:rPr>
                <a:solidFill>
                  <a:srgbClr val="000000"/>
                </a:solidFill>
              </a:rPr>
              <a:t>Introduction to Logical Operators using NASM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04A"/>
                </a:solidFill>
              </a:defRPr>
            </a:pPr>
            <a:r>
              <a:rPr>
                <a:solidFill>
                  <a:srgbClr val="000000"/>
                </a:solidFill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0242A"/>
                </a:solidFill>
              </a:defRPr>
            </a:pPr>
            <a:r>
              <a:rPr>
                <a:solidFill>
                  <a:srgbClr val="000000"/>
                </a:solidFill>
              </a:rPr>
              <a:t>Understand bitwise logical operations in NASM.</a:t>
            </a:r>
          </a:p>
          <a:p>
            <a:pPr>
              <a:spcAft>
                <a:spcPts val="1400"/>
              </a:spcAft>
              <a:defRPr sz="2100">
                <a:solidFill>
                  <a:srgbClr val="20242A"/>
                </a:solidFill>
              </a:defRPr>
            </a:pPr>
            <a:r>
              <a:rPr>
                <a:solidFill>
                  <a:srgbClr val="000000"/>
                </a:solidFill>
              </a:rPr>
              <a:t>Use AND, OR, XOR, TEST and NOT instructions.</a:t>
            </a:r>
          </a:p>
          <a:p>
            <a:pPr>
              <a:spcAft>
                <a:spcPts val="1400"/>
              </a:spcAft>
              <a:defRPr sz="2100">
                <a:solidFill>
                  <a:srgbClr val="20242A"/>
                </a:solidFill>
              </a:defRPr>
            </a:pPr>
            <a:r>
              <a:rPr>
                <a:solidFill>
                  <a:srgbClr val="000000"/>
                </a:solidFill>
              </a:rPr>
              <a:t>Use logical instructions to set, clear, toggle and test bits.</a:t>
            </a:r>
          </a:p>
          <a:p>
            <a:pPr>
              <a:spcAft>
                <a:spcPts val="1400"/>
              </a:spcAft>
              <a:defRPr sz="2100">
                <a:solidFill>
                  <a:srgbClr val="20242A"/>
                </a:solidFill>
              </a:defRPr>
            </a:pPr>
            <a:r>
              <a:rPr>
                <a:solidFill>
                  <a:srgbClr val="000000"/>
                </a:solidFill>
              </a:rPr>
              <a:t>Apply AND/TEST to determine whether a number is even or odd.</a:t>
            </a:r>
          </a:p>
          <a:p>
            <a:pPr>
              <a:spcAft>
                <a:spcPts val="1400"/>
              </a:spcAft>
              <a:defRPr sz="2100">
                <a:solidFill>
                  <a:srgbClr val="20242A"/>
                </a:solidFill>
              </a:defRPr>
            </a:pPr>
            <a:r>
              <a:rPr>
                <a:solidFill>
                  <a:srgbClr val="000000"/>
                </a:solidFill>
              </a:rPr>
              <a:t>Write and execute simple NASM programs using Linux system calls.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04A"/>
                </a:solidFill>
              </a:defRPr>
            </a:pPr>
            <a:r>
              <a:rPr>
                <a:solidFill>
                  <a:srgbClr val="000000"/>
                </a:solidFill>
              </a:rPr>
              <a:t>Logical Instructions — Quick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0242A"/>
                </a:solidFill>
              </a:defRPr>
            </a:pPr>
            <a:r>
              <a:rPr>
                <a:solidFill>
                  <a:srgbClr val="000000"/>
                </a:solidFill>
              </a:rPr>
              <a:t>AND operand1, operand2 — result bit is 1 only when both corresponding bits are 1.</a:t>
            </a:r>
          </a:p>
          <a:p>
            <a:pPr>
              <a:spcAft>
                <a:spcPts val="1400"/>
              </a:spcAft>
              <a:defRPr sz="2100">
                <a:solidFill>
                  <a:srgbClr val="20242A"/>
                </a:solidFill>
              </a:defRPr>
            </a:pPr>
            <a:r>
              <a:rPr>
                <a:solidFill>
                  <a:srgbClr val="000000"/>
                </a:solidFill>
              </a:rPr>
              <a:t>OR operand1, operand2 — result bit is 1 when either or both corresponding bits are 1.</a:t>
            </a:r>
          </a:p>
          <a:p>
            <a:pPr>
              <a:spcAft>
                <a:spcPts val="1400"/>
              </a:spcAft>
              <a:defRPr sz="2100">
                <a:solidFill>
                  <a:srgbClr val="20242A"/>
                </a:solidFill>
              </a:defRPr>
            </a:pPr>
            <a:r>
              <a:rPr>
                <a:solidFill>
                  <a:srgbClr val="000000"/>
                </a:solidFill>
              </a:rPr>
              <a:t>XOR operand1, operand2 — result bit is 1 when corresponding bits are different.</a:t>
            </a:r>
          </a:p>
          <a:p>
            <a:pPr>
              <a:spcAft>
                <a:spcPts val="1400"/>
              </a:spcAft>
              <a:defRPr sz="2100">
                <a:solidFill>
                  <a:srgbClr val="20242A"/>
                </a:solidFill>
              </a:defRPr>
            </a:pPr>
            <a:r>
              <a:rPr>
                <a:solidFill>
                  <a:srgbClr val="000000"/>
                </a:solidFill>
              </a:rPr>
              <a:t>TEST operand1, operand2 — performs AND for flag testing but does not store the result.</a:t>
            </a:r>
          </a:p>
          <a:p>
            <a:pPr>
              <a:spcAft>
                <a:spcPts val="1400"/>
              </a:spcAft>
              <a:defRPr sz="2100">
                <a:solidFill>
                  <a:srgbClr val="20242A"/>
                </a:solidFill>
              </a:defRPr>
            </a:pPr>
            <a:r>
              <a:rPr>
                <a:solidFill>
                  <a:srgbClr val="000000"/>
                </a:solidFill>
              </a:rPr>
              <a:t>NOT operand1 — reverses every bit: 0 becomes 1 and 1 becomes 0.</a:t>
            </a:r>
          </a:p>
          <a:p>
            <a:pPr>
              <a:spcAft>
                <a:spcPts val="1400"/>
              </a:spcAft>
              <a:defRPr sz="2100">
                <a:solidFill>
                  <a:srgbClr val="20242A"/>
                </a:solidFill>
              </a:defRPr>
            </a:pPr>
            <a:r>
              <a:rPr>
                <a:solidFill>
                  <a:srgbClr val="000000"/>
                </a:solidFill>
              </a:rPr>
              <a:t>Memory-to-memory forms are not allowed; at least one operand must normally be a register/immediate as permitted by the instruction.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04A"/>
                </a:solidFill>
              </a:defRPr>
            </a:pPr>
            <a:r>
              <a:rPr>
                <a:solidFill>
                  <a:srgbClr val="000000"/>
                </a:solidFill>
              </a:rPr>
              <a:t>AND Instruction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0242A"/>
                </a:solidFill>
              </a:defRPr>
            </a:pPr>
            <a:r>
              <a:rPr>
                <a:solidFill>
                  <a:srgbClr val="000000"/>
                </a:solidFill>
              </a:rPr>
              <a:t>AND is commonly used to clear selected bits or to test a bit pattern.</a:t>
            </a:r>
          </a:p>
          <a:p>
            <a:pPr>
              <a:spcAft>
                <a:spcPts val="1400"/>
              </a:spcAft>
              <a:defRPr sz="2100">
                <a:solidFill>
                  <a:srgbClr val="20242A"/>
                </a:solidFill>
              </a:defRPr>
            </a:pPr>
            <a:r>
              <a:rPr>
                <a:solidFill>
                  <a:srgbClr val="000000"/>
                </a:solidFill>
              </a:rPr>
              <a:t>Example: 0101 AND 0011 = 0001.</a:t>
            </a:r>
          </a:p>
          <a:p>
            <a:pPr>
              <a:spcAft>
                <a:spcPts val="1400"/>
              </a:spcAft>
              <a:defRPr sz="2100">
                <a:solidFill>
                  <a:srgbClr val="20242A"/>
                </a:solidFill>
              </a:defRPr>
            </a:pPr>
            <a:r>
              <a:rPr>
                <a:solidFill>
                  <a:srgbClr val="000000"/>
                </a:solidFill>
              </a:rPr>
              <a:t>To keep only the lower four bits: AND BL, 0FH.</a:t>
            </a:r>
          </a:p>
          <a:p>
            <a:pPr>
              <a:spcAft>
                <a:spcPts val="1400"/>
              </a:spcAft>
              <a:defRPr sz="2100">
                <a:solidFill>
                  <a:srgbClr val="20242A"/>
                </a:solidFill>
              </a:defRPr>
            </a:pPr>
            <a:r>
              <a:rPr>
                <a:solidFill>
                  <a:srgbClr val="000000"/>
                </a:solidFill>
              </a:rPr>
              <a:t>To test the least significant bit: AND AL, 01H.</a:t>
            </a:r>
          </a:p>
          <a:p>
            <a:pPr>
              <a:spcAft>
                <a:spcPts val="1400"/>
              </a:spcAft>
              <a:defRPr sz="2100">
                <a:solidFill>
                  <a:srgbClr val="20242A"/>
                </a:solidFill>
              </a:defRPr>
            </a:pPr>
            <a:r>
              <a:rPr>
                <a:solidFill>
                  <a:srgbClr val="000000"/>
                </a:solidFill>
              </a:rPr>
              <a:t>If the least significant bit is 0, the number is even; if it is 1, the number is odd.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04A"/>
                </a:solidFill>
              </a:defRPr>
            </a:pPr>
            <a:r>
              <a:rPr>
                <a:solidFill>
                  <a:srgbClr val="000000"/>
                </a:solidFill>
              </a:rPr>
              <a:t>Worked AND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770"/>
                </a:solidFill>
              </a:defRPr>
            </a:pPr>
            <a:r>
              <a:rPr>
                <a:solidFill>
                  <a:srgbClr val="000000"/>
                </a:solidFill>
              </a:rPr>
              <a:t>The operation is performed independently on corresponding bits.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1018520" cy="4892040"/>
          </a:xfrm>
          <a:prstGeom prst="roundRect">
            <a:avLst/>
          </a:prstGeom>
          <a:solidFill>
            <a:srgbClr val="F7F9FB"/>
          </a:solidFill>
          <a:ln>
            <a:solidFill>
              <a:srgbClr val="CD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>
                <a:solidFill>
                  <a:srgbClr val="20242A"/>
                </a:solidFill>
                <a:latin typeface="Consolas"/>
              </a:defRPr>
            </a:pPr>
            <a:r>
              <a:rPr>
                <a:solidFill>
                  <a:srgbClr val="000000"/>
                </a:solidFill>
              </a:rPr>
              <a:t>Operand 1:   0101</a:t>
            </a:r>
            <a:br/>
            <a:r>
              <a:rPr>
                <a:solidFill>
                  <a:srgbClr val="000000"/>
                </a:solidFill>
              </a:rPr>
              <a:t>Operand 2:   0011</a:t>
            </a:r>
            <a:br/>
            <a:r>
              <a:rPr>
                <a:solidFill>
                  <a:srgbClr val="000000"/>
                </a:solidFill>
              </a:rPr>
              <a:t>             ----</a:t>
            </a:r>
            <a:br/>
            <a:r>
              <a:rPr>
                <a:solidFill>
                  <a:srgbClr val="000000"/>
                </a:solidFill>
              </a:rPr>
              <a:t>AND result:  0001</a:t>
            </a:r>
            <a:br/>
            <a:br/>
            <a:r>
              <a:rPr>
                <a:solidFill>
                  <a:srgbClr val="000000"/>
                </a:solidFill>
              </a:rPr>
              <a:t>Bit-by-bit:</a:t>
            </a:r>
            <a:br/>
            <a:r>
              <a:rPr>
                <a:solidFill>
                  <a:srgbClr val="000000"/>
                </a:solidFill>
              </a:rPr>
              <a:t>0 AND 0 = 0</a:t>
            </a:r>
            <a:br/>
            <a:r>
              <a:rPr>
                <a:solidFill>
                  <a:srgbClr val="000000"/>
                </a:solidFill>
              </a:rPr>
              <a:t>1 AND 0 = 0</a:t>
            </a:r>
            <a:br/>
            <a:r>
              <a:rPr>
                <a:solidFill>
                  <a:srgbClr val="000000"/>
                </a:solidFill>
              </a:rPr>
              <a:t>0 AND 1 = 0</a:t>
            </a:r>
            <a:br/>
            <a:r>
              <a:rPr>
                <a:solidFill>
                  <a:srgbClr val="000000"/>
                </a:solidFill>
              </a:rPr>
              <a:t>1 AND 1 =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04A"/>
                </a:solidFill>
              </a:defRPr>
            </a:pPr>
            <a:r>
              <a:rPr>
                <a:solidFill>
                  <a:srgbClr val="000000"/>
                </a:solidFill>
              </a:rPr>
              <a:t>Task 1 — Complete AND Program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770"/>
                </a:solidFill>
              </a:defRPr>
            </a:pPr>
            <a:r>
              <a:rPr>
                <a:solidFill>
                  <a:srgbClr val="000000"/>
                </a:solidFill>
              </a:rPr>
              <a:t>The AND operation produces 0001.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1018520" cy="4892040"/>
          </a:xfrm>
          <a:prstGeom prst="roundRect">
            <a:avLst/>
          </a:prstGeom>
          <a:solidFill>
            <a:srgbClr val="F7F9FB"/>
          </a:solidFill>
          <a:ln>
            <a:solidFill>
              <a:srgbClr val="CD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>
                <a:solidFill>
                  <a:srgbClr val="20242A"/>
                </a:solidFill>
                <a:latin typeface="Consolas"/>
              </a:defRPr>
            </a:pPr>
            <a:r>
              <a:rPr>
                <a:solidFill>
                  <a:srgbClr val="000000"/>
                </a:solidFill>
              </a:rPr>
              <a:t>section .data</a:t>
            </a:r>
            <a:br/>
            <a:r>
              <a:rPr>
                <a:solidFill>
                  <a:srgbClr val="000000"/>
                </a:solidFill>
              </a:rPr>
              <a:t>    msg1 db "Operand1: 0101", 10</a:t>
            </a:r>
            <a:br/>
            <a:r>
              <a:rPr>
                <a:solidFill>
                  <a:srgbClr val="000000"/>
                </a:solidFill>
              </a:rPr>
              <a:t>    len1 equ $ - msg1</a:t>
            </a:r>
            <a:br/>
            <a:r>
              <a:rPr>
                <a:solidFill>
                  <a:srgbClr val="000000"/>
                </a:solidFill>
              </a:rPr>
              <a:t>    msg2 db "Operand2: 0011", 10</a:t>
            </a:r>
            <a:br/>
            <a:r>
              <a:rPr>
                <a:solidFill>
                  <a:srgbClr val="000000"/>
                </a:solidFill>
              </a:rPr>
              <a:t>    len2 equ $ - msg2</a:t>
            </a:r>
            <a:br/>
            <a:r>
              <a:rPr>
                <a:solidFill>
                  <a:srgbClr val="000000"/>
                </a:solidFill>
              </a:rPr>
              <a:t>    msg3 db "After AND -&gt; Operand1: 0001", 10</a:t>
            </a:r>
            <a:br/>
            <a:r>
              <a:rPr>
                <a:solidFill>
                  <a:srgbClr val="000000"/>
                </a:solidFill>
              </a:rPr>
              <a:t>    len3 equ $ - msg3</a:t>
            </a:r>
            <a:br/>
            <a:br/>
            <a:r>
              <a:rPr>
                <a:solidFill>
                  <a:srgbClr val="000000"/>
                </a:solidFill>
              </a:rPr>
              <a:t>section .text</a:t>
            </a:r>
            <a:br/>
            <a:r>
              <a:rPr>
                <a:solidFill>
                  <a:srgbClr val="000000"/>
                </a:solidFill>
              </a:rPr>
              <a:t>    global _start</a:t>
            </a:r>
            <a:br/>
            <a:br/>
            <a:r>
              <a:rPr>
                <a:solidFill>
                  <a:srgbClr val="000000"/>
                </a:solidFill>
              </a:rPr>
              <a:t>_start:</a:t>
            </a:r>
            <a:br/>
            <a:r>
              <a:rPr>
                <a:solidFill>
                  <a:srgbClr val="000000"/>
                </a:solidFill>
              </a:rPr>
              <a:t>    mov al, 0101b</a:t>
            </a:r>
            <a:br/>
            <a:r>
              <a:rPr>
                <a:solidFill>
                  <a:srgbClr val="000000"/>
                </a:solidFill>
              </a:rPr>
              <a:t>    mov bl, 0011b</a:t>
            </a:r>
            <a:br/>
            <a:r>
              <a:rPr>
                <a:solidFill>
                  <a:srgbClr val="000000"/>
                </a:solidFill>
              </a:rPr>
              <a:t>    and al, bl</a:t>
            </a:r>
            <a:br/>
            <a:br/>
            <a:r>
              <a:rPr>
                <a:solidFill>
                  <a:srgbClr val="000000"/>
                </a:solidFill>
              </a:rPr>
              <a:t>    mov eax, 4</a:t>
            </a:r>
            <a:br/>
            <a:r>
              <a:rPr>
                <a:solidFill>
                  <a:srgbClr val="000000"/>
                </a:solidFill>
              </a:rPr>
              <a:t>    mov ebx, 1</a:t>
            </a:r>
            <a:br/>
            <a:r>
              <a:rPr>
                <a:solidFill>
                  <a:srgbClr val="000000"/>
                </a:solidFill>
              </a:rPr>
              <a:t>    mov ecx, msg1</a:t>
            </a:r>
            <a:br/>
            <a:r>
              <a:rPr>
                <a:solidFill>
                  <a:srgbClr val="000000"/>
                </a:solidFill>
              </a:rPr>
              <a:t>    mov edx, len1</a:t>
            </a:r>
            <a:br/>
            <a:r>
              <a:rPr>
                <a:solidFill>
                  <a:srgbClr val="000000"/>
                </a:solidFill>
              </a:rPr>
              <a:t>    int 0x80</a:t>
            </a:r>
            <a:br/>
            <a:br/>
            <a:r>
              <a:rPr>
                <a:solidFill>
                  <a:srgbClr val="000000"/>
                </a:solidFill>
              </a:rPr>
              <a:t>    mov eax, 4</a:t>
            </a:r>
            <a:br/>
            <a:r>
              <a:rPr>
                <a:solidFill>
                  <a:srgbClr val="000000"/>
                </a:solidFill>
              </a:rPr>
              <a:t>    mov ebx, 1</a:t>
            </a:r>
            <a:br/>
            <a:r>
              <a:rPr>
                <a:solidFill>
                  <a:srgbClr val="000000"/>
                </a:solidFill>
              </a:rPr>
              <a:t>    mov ecx, msg2</a:t>
            </a:r>
            <a:br/>
            <a:r>
              <a:rPr>
                <a:solidFill>
                  <a:srgbClr val="000000"/>
                </a:solidFill>
              </a:rPr>
              <a:t>    mov edx, len2</a:t>
            </a:r>
            <a:br/>
            <a:r>
              <a:rPr>
                <a:solidFill>
                  <a:srgbClr val="000000"/>
                </a:solidFill>
              </a:rPr>
              <a:t>    int 0x80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04A"/>
                </a:solidFill>
              </a:defRPr>
            </a:pPr>
            <a:r>
              <a:rPr>
                <a:solidFill>
                  <a:srgbClr val="000000"/>
                </a:solidFill>
              </a:rPr>
              <a:t>Task 1 — Complete AND Program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770"/>
                </a:solidFill>
              </a:defRPr>
            </a:pPr>
            <a:r>
              <a:rPr>
                <a:solidFill>
                  <a:srgbClr val="000000"/>
                </a:solidFill>
              </a:rPr>
              <a:t>The messages display the operands and expected AND result.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1018520" cy="4892040"/>
          </a:xfrm>
          <a:prstGeom prst="roundRect">
            <a:avLst/>
          </a:prstGeom>
          <a:solidFill>
            <a:srgbClr val="F7F9FB"/>
          </a:solidFill>
          <a:ln>
            <a:solidFill>
              <a:srgbClr val="CD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>
                <a:solidFill>
                  <a:srgbClr val="20242A"/>
                </a:solidFill>
                <a:latin typeface="Consolas"/>
              </a:defRPr>
            </a:pPr>
            <a:r>
              <a:rPr>
                <a:solidFill>
                  <a:srgbClr val="000000"/>
                </a:solidFill>
              </a:rPr>
              <a:t>    mov eax, 4</a:t>
            </a:r>
            <a:br/>
            <a:r>
              <a:rPr>
                <a:solidFill>
                  <a:srgbClr val="000000"/>
                </a:solidFill>
              </a:rPr>
              <a:t>    mov ebx, 1</a:t>
            </a:r>
            <a:br/>
            <a:r>
              <a:rPr>
                <a:solidFill>
                  <a:srgbClr val="000000"/>
                </a:solidFill>
              </a:rPr>
              <a:t>    mov ecx, msg3</a:t>
            </a:r>
            <a:br/>
            <a:r>
              <a:rPr>
                <a:solidFill>
                  <a:srgbClr val="000000"/>
                </a:solidFill>
              </a:rPr>
              <a:t>    mov edx, len3</a:t>
            </a:r>
            <a:br/>
            <a:r>
              <a:rPr>
                <a:solidFill>
                  <a:srgbClr val="000000"/>
                </a:solidFill>
              </a:rPr>
              <a:t>    int 0x80</a:t>
            </a:r>
            <a:br/>
            <a:br/>
            <a:r>
              <a:rPr>
                <a:solidFill>
                  <a:srgbClr val="000000"/>
                </a:solidFill>
              </a:rPr>
              <a:t>    mov eax, 1</a:t>
            </a:r>
            <a:br/>
            <a:r>
              <a:rPr>
                <a:solidFill>
                  <a:srgbClr val="000000"/>
                </a:solidFill>
              </a:rPr>
              <a:t>    mov ebx, 0</a:t>
            </a:r>
            <a:br/>
            <a:r>
              <a:rPr>
                <a:solidFill>
                  <a:srgbClr val="000000"/>
                </a:solidFill>
              </a:rPr>
              <a:t>    int 0x80</a:t>
            </a:r>
            <a:br/>
            <a:br/>
            <a:r>
              <a:rPr>
                <a:solidFill>
                  <a:srgbClr val="000000"/>
                </a:solidFill>
              </a:rPr>
              <a:t>; Expected output:</a:t>
            </a:r>
            <a:br/>
            <a:r>
              <a:rPr>
                <a:solidFill>
                  <a:srgbClr val="000000"/>
                </a:solidFill>
              </a:rPr>
              <a:t>; Operand1: 0101</a:t>
            </a:r>
            <a:br/>
            <a:r>
              <a:rPr>
                <a:solidFill>
                  <a:srgbClr val="000000"/>
                </a:solidFill>
              </a:rPr>
              <a:t>; Operand2: 0011</a:t>
            </a:r>
            <a:br/>
            <a:r>
              <a:rPr>
                <a:solidFill>
                  <a:srgbClr val="000000"/>
                </a:solidFill>
              </a:rPr>
              <a:t>; After AND -&gt; Operand1: 0001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04A"/>
                </a:solidFill>
              </a:defRPr>
            </a:pPr>
            <a:r>
              <a:rPr>
                <a:solidFill>
                  <a:srgbClr val="000000"/>
                </a:solidFill>
              </a:rPr>
              <a:t>OR, XOR, TEST and NOT —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0242A"/>
                </a:solidFill>
              </a:defRPr>
            </a:pPr>
            <a:r>
              <a:rPr>
                <a:solidFill>
                  <a:srgbClr val="000000"/>
                </a:solidFill>
              </a:rPr>
              <a:t>OR: 0101 OR 0011 = 0111. It is useful for setting selected bits.</a:t>
            </a:r>
          </a:p>
          <a:p>
            <a:pPr>
              <a:spcAft>
                <a:spcPts val="1400"/>
              </a:spcAft>
              <a:defRPr sz="2100">
                <a:solidFill>
                  <a:srgbClr val="20242A"/>
                </a:solidFill>
              </a:defRPr>
            </a:pPr>
            <a:r>
              <a:rPr>
                <a:solidFill>
                  <a:srgbClr val="000000"/>
                </a:solidFill>
              </a:rPr>
              <a:t>XOR: 0101 XOR 0011 = 0110. XOR EAX, EAX efficiently clears EAX.</a:t>
            </a:r>
          </a:p>
          <a:p>
            <a:pPr>
              <a:spcAft>
                <a:spcPts val="1400"/>
              </a:spcAft>
              <a:defRPr sz="2100">
                <a:solidFill>
                  <a:srgbClr val="20242A"/>
                </a:solidFill>
              </a:defRPr>
            </a:pPr>
            <a:r>
              <a:rPr>
                <a:solidFill>
                  <a:srgbClr val="000000"/>
                </a:solidFill>
              </a:rPr>
              <a:t>TEST: TEST AL, 01H checks the least significant bit without modifying AL.</a:t>
            </a:r>
          </a:p>
          <a:p>
            <a:pPr>
              <a:spcAft>
                <a:spcPts val="1400"/>
              </a:spcAft>
              <a:defRPr sz="2100">
                <a:solidFill>
                  <a:srgbClr val="20242A"/>
                </a:solidFill>
              </a:defRPr>
            </a:pPr>
            <a:r>
              <a:rPr>
                <a:solidFill>
                  <a:srgbClr val="000000"/>
                </a:solidFill>
              </a:rPr>
              <a:t>NOT: NOT reverses every bit. Example: 0101 0011 becomes 1010 1100.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04A"/>
                </a:solidFill>
              </a:defRPr>
            </a:pPr>
            <a:r>
              <a:rPr>
                <a:solidFill>
                  <a:srgbClr val="000000"/>
                </a:solidFill>
              </a:rPr>
              <a:t>Complete OR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770"/>
                </a:solidFill>
              </a:defRPr>
            </a:pPr>
            <a:r>
              <a:rPr>
                <a:solidFill>
                  <a:srgbClr val="000000"/>
                </a:solidFill>
              </a:rPr>
              <a:t>5 = 0101, 3 = 0011, therefore OR gives 0111 = 7.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1018520" cy="4892040"/>
          </a:xfrm>
          <a:prstGeom prst="roundRect">
            <a:avLst/>
          </a:prstGeom>
          <a:solidFill>
            <a:srgbClr val="F7F9FB"/>
          </a:solidFill>
          <a:ln>
            <a:solidFill>
              <a:srgbClr val="CD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>
                <a:solidFill>
                  <a:srgbClr val="20242A"/>
                </a:solidFill>
                <a:latin typeface="Consolas"/>
              </a:defRPr>
            </a:pPr>
            <a:r>
              <a:rPr>
                <a:solidFill>
                  <a:srgbClr val="000000"/>
                </a:solidFill>
              </a:rPr>
              <a:t>section .bss</a:t>
            </a:r>
            <a:br/>
            <a:r>
              <a:rPr>
                <a:solidFill>
                  <a:srgbClr val="000000"/>
                </a:solidFill>
              </a:rPr>
              <a:t>    result resb 1</a:t>
            </a:r>
            <a:br/>
            <a:br/>
            <a:r>
              <a:rPr>
                <a:solidFill>
                  <a:srgbClr val="000000"/>
                </a:solidFill>
              </a:rPr>
              <a:t>section .text</a:t>
            </a:r>
            <a:br/>
            <a:r>
              <a:rPr>
                <a:solidFill>
                  <a:srgbClr val="000000"/>
                </a:solidFill>
              </a:rPr>
              <a:t>    global _start</a:t>
            </a:r>
            <a:br/>
            <a:br/>
            <a:r>
              <a:rPr>
                <a:solidFill>
                  <a:srgbClr val="000000"/>
                </a:solidFill>
              </a:rPr>
              <a:t>_start:</a:t>
            </a:r>
            <a:br/>
            <a:r>
              <a:rPr>
                <a:solidFill>
                  <a:srgbClr val="000000"/>
                </a:solidFill>
              </a:rPr>
              <a:t>    mov al, 5</a:t>
            </a:r>
            <a:br/>
            <a:r>
              <a:rPr>
                <a:solidFill>
                  <a:srgbClr val="000000"/>
                </a:solidFill>
              </a:rPr>
              <a:t>    mov bl, 3</a:t>
            </a:r>
            <a:br/>
            <a:r>
              <a:rPr>
                <a:solidFill>
                  <a:srgbClr val="000000"/>
                </a:solidFill>
              </a:rPr>
              <a:t>    or  al, bl          ; 5 OR 3 = 7</a:t>
            </a:r>
            <a:br/>
            <a:r>
              <a:rPr>
                <a:solidFill>
                  <a:srgbClr val="000000"/>
                </a:solidFill>
              </a:rPr>
              <a:t>    add al, '0'         ; convert single digit to ASCII</a:t>
            </a:r>
            <a:br/>
            <a:r>
              <a:rPr>
                <a:solidFill>
                  <a:srgbClr val="000000"/>
                </a:solidFill>
              </a:rPr>
              <a:t>    mov [result], al</a:t>
            </a:r>
            <a:br/>
            <a:br/>
            <a:r>
              <a:rPr>
                <a:solidFill>
                  <a:srgbClr val="000000"/>
                </a:solidFill>
              </a:rPr>
              <a:t>    mov eax, 4</a:t>
            </a:r>
            <a:br/>
            <a:r>
              <a:rPr>
                <a:solidFill>
                  <a:srgbClr val="000000"/>
                </a:solidFill>
              </a:rPr>
              <a:t>    mov ebx, 1</a:t>
            </a:r>
            <a:br/>
            <a:r>
              <a:rPr>
                <a:solidFill>
                  <a:srgbClr val="000000"/>
                </a:solidFill>
              </a:rPr>
              <a:t>    mov ecx, result</a:t>
            </a:r>
            <a:br/>
            <a:r>
              <a:rPr>
                <a:solidFill>
                  <a:srgbClr val="000000"/>
                </a:solidFill>
              </a:rPr>
              <a:t>    mov edx, 1</a:t>
            </a:r>
            <a:br/>
            <a:r>
              <a:rPr>
                <a:solidFill>
                  <a:srgbClr val="000000"/>
                </a:solidFill>
              </a:rPr>
              <a:t>    int 0x80</a:t>
            </a:r>
            <a:br/>
            <a:br/>
            <a:r>
              <a:rPr>
                <a:solidFill>
                  <a:srgbClr val="000000"/>
                </a:solidFill>
              </a:rPr>
              <a:t>    mov eax, 1</a:t>
            </a:r>
            <a:br/>
            <a:r>
              <a:rPr>
                <a:solidFill>
                  <a:srgbClr val="000000"/>
                </a:solidFill>
              </a:rPr>
              <a:t>    mov ebx, 0</a:t>
            </a:r>
            <a:br/>
            <a:r>
              <a:rPr>
                <a:solidFill>
                  <a:srgbClr val="000000"/>
                </a:solidFill>
              </a:rPr>
              <a:t>    int 0x80</a:t>
            </a:r>
            <a:br/>
            <a:br/>
            <a:r>
              <a:rPr>
                <a:solidFill>
                  <a:srgbClr val="000000"/>
                </a:solidFill>
              </a:rPr>
              <a:t>; Output: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04A"/>
                </a:solidFill>
              </a:defRPr>
            </a:pPr>
            <a:r>
              <a:rPr>
                <a:solidFill>
                  <a:srgbClr val="000000"/>
                </a:solidFill>
              </a:rPr>
              <a:t>Even/Odd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0242A"/>
                </a:solidFill>
              </a:defRPr>
            </a:pPr>
            <a:r>
              <a:rPr>
                <a:solidFill>
                  <a:srgbClr val="000000"/>
                </a:solidFill>
              </a:rPr>
              <a:t>Binary representation of an even number always ends in 0.</a:t>
            </a:r>
          </a:p>
          <a:p>
            <a:pPr>
              <a:spcAft>
                <a:spcPts val="1400"/>
              </a:spcAft>
              <a:defRPr sz="2100">
                <a:solidFill>
                  <a:srgbClr val="20242A"/>
                </a:solidFill>
              </a:defRPr>
            </a:pPr>
            <a:r>
              <a:rPr>
                <a:solidFill>
                  <a:srgbClr val="000000"/>
                </a:solidFill>
              </a:rPr>
              <a:t>Binary representation of an odd number always ends in 1.</a:t>
            </a:r>
          </a:p>
          <a:p>
            <a:pPr>
              <a:spcAft>
                <a:spcPts val="1400"/>
              </a:spcAft>
              <a:defRPr sz="2100">
                <a:solidFill>
                  <a:srgbClr val="20242A"/>
                </a:solidFill>
              </a:defRPr>
            </a:pPr>
            <a:r>
              <a:rPr>
                <a:solidFill>
                  <a:srgbClr val="000000"/>
                </a:solidFill>
              </a:rPr>
              <a:t>AND AX, 1 keeps only the least significant bit.</a:t>
            </a:r>
          </a:p>
          <a:p>
            <a:pPr>
              <a:spcAft>
                <a:spcPts val="1400"/>
              </a:spcAft>
              <a:defRPr sz="2100">
                <a:solidFill>
                  <a:srgbClr val="20242A"/>
                </a:solidFill>
              </a:defRPr>
            </a:pPr>
            <a:r>
              <a:rPr>
                <a:solidFill>
                  <a:srgbClr val="000000"/>
                </a:solidFill>
              </a:rPr>
              <a:t>JZ EVEN is taken when the AND result is zero.</a:t>
            </a:r>
          </a:p>
          <a:p>
            <a:pPr>
              <a:spcAft>
                <a:spcPts val="1400"/>
              </a:spcAft>
              <a:defRPr sz="2100">
                <a:solidFill>
                  <a:srgbClr val="20242A"/>
                </a:solidFill>
              </a:defRPr>
            </a:pPr>
            <a:r>
              <a:rPr>
                <a:solidFill>
                  <a:srgbClr val="000000"/>
                </a:solidFill>
              </a:rPr>
              <a:t>Example: 9 = 1001₂. 1001 AND 0001 = 0001, so 9 is odd.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04A"/>
                </a:solidFill>
              </a:defRPr>
            </a:pPr>
            <a:r>
              <a:rPr>
                <a:solidFill>
                  <a:srgbClr val="000000"/>
                </a:solidFill>
              </a:rPr>
              <a:t>Task 2 — Odd/Even Program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770"/>
                </a:solidFill>
              </a:defRPr>
            </a:pPr>
            <a:r>
              <a:rPr>
                <a:solidFill>
                  <a:srgbClr val="000000"/>
                </a:solidFill>
              </a:rPr>
              <a:t>AX is set to 9 so the expected result is Odd Number.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1018520" cy="4892040"/>
          </a:xfrm>
          <a:prstGeom prst="roundRect">
            <a:avLst/>
          </a:prstGeom>
          <a:solidFill>
            <a:srgbClr val="F7F9FB"/>
          </a:solidFill>
          <a:ln>
            <a:solidFill>
              <a:srgbClr val="CD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>
                <a:solidFill>
                  <a:srgbClr val="20242A"/>
                </a:solidFill>
                <a:latin typeface="Consolas"/>
              </a:defRPr>
            </a:pPr>
            <a:r>
              <a:rPr>
                <a:solidFill>
                  <a:srgbClr val="000000"/>
                </a:solidFill>
              </a:rPr>
              <a:t>section .data</a:t>
            </a:r>
            <a:br/>
            <a:r>
              <a:rPr>
                <a:solidFill>
                  <a:srgbClr val="000000"/>
                </a:solidFill>
              </a:rPr>
              <a:t>    odd_msg  db "Odd Number!", 10</a:t>
            </a:r>
            <a:br/>
            <a:r>
              <a:rPr>
                <a:solidFill>
                  <a:srgbClr val="000000"/>
                </a:solidFill>
              </a:rPr>
              <a:t>    odd_len  equ $ - odd_msg</a:t>
            </a:r>
            <a:br/>
            <a:r>
              <a:rPr>
                <a:solidFill>
                  <a:srgbClr val="000000"/>
                </a:solidFill>
              </a:rPr>
              <a:t>    even_msg db "Even Number!", 10</a:t>
            </a:r>
            <a:br/>
            <a:r>
              <a:rPr>
                <a:solidFill>
                  <a:srgbClr val="000000"/>
                </a:solidFill>
              </a:rPr>
              <a:t>    even_len equ $ - even_msg</a:t>
            </a:r>
            <a:br/>
            <a:br/>
            <a:r>
              <a:rPr>
                <a:solidFill>
                  <a:srgbClr val="000000"/>
                </a:solidFill>
              </a:rPr>
              <a:t>section .text</a:t>
            </a:r>
            <a:br/>
            <a:r>
              <a:rPr>
                <a:solidFill>
                  <a:srgbClr val="000000"/>
                </a:solidFill>
              </a:rPr>
              <a:t>    global _start</a:t>
            </a:r>
            <a:br/>
            <a:br/>
            <a:r>
              <a:rPr>
                <a:solidFill>
                  <a:srgbClr val="000000"/>
                </a:solidFill>
              </a:rPr>
              <a:t>_start:</a:t>
            </a:r>
            <a:br/>
            <a:r>
              <a:rPr>
                <a:solidFill>
                  <a:srgbClr val="000000"/>
                </a:solidFill>
              </a:rPr>
              <a:t>    mov ax, 9           ; choose an odd value</a:t>
            </a:r>
            <a:br/>
            <a:r>
              <a:rPr>
                <a:solidFill>
                  <a:srgbClr val="000000"/>
                </a:solidFill>
              </a:rPr>
              <a:t>    and ax, 1           ; check least significant bit</a:t>
            </a:r>
            <a:br/>
            <a:r>
              <a:rPr>
                <a:solidFill>
                  <a:srgbClr val="000000"/>
                </a:solidFill>
              </a:rPr>
              <a:t>    jz even</a:t>
            </a:r>
            <a:br/>
            <a:br/>
            <a:r>
              <a:rPr>
                <a:solidFill>
                  <a:srgbClr val="000000"/>
                </a:solidFill>
              </a:rPr>
              <a:t>odd:</a:t>
            </a:r>
            <a:br/>
            <a:r>
              <a:rPr>
                <a:solidFill>
                  <a:srgbClr val="000000"/>
                </a:solidFill>
              </a:rPr>
              <a:t>    mov eax, 4</a:t>
            </a:r>
            <a:br/>
            <a:r>
              <a:rPr>
                <a:solidFill>
                  <a:srgbClr val="000000"/>
                </a:solidFill>
              </a:rPr>
              <a:t>    mov ebx, 1</a:t>
            </a:r>
            <a:br/>
            <a:r>
              <a:rPr>
                <a:solidFill>
                  <a:srgbClr val="000000"/>
                </a:solidFill>
              </a:rPr>
              <a:t>    mov ecx, odd_msg</a:t>
            </a:r>
            <a:br/>
            <a:r>
              <a:rPr>
                <a:solidFill>
                  <a:srgbClr val="000000"/>
                </a:solidFill>
              </a:rPr>
              <a:t>    mov edx, odd_len</a:t>
            </a:r>
            <a:br/>
            <a:r>
              <a:rPr>
                <a:solidFill>
                  <a:srgbClr val="000000"/>
                </a:solidFill>
              </a:rPr>
              <a:t>    int 0x80</a:t>
            </a:r>
            <a:br/>
            <a:r>
              <a:rPr>
                <a:solidFill>
                  <a:srgbClr val="000000"/>
                </a:solidFill>
              </a:rPr>
              <a:t>    jmp exit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04A"/>
                </a:solidFill>
              </a:defRPr>
            </a:pPr>
            <a:r>
              <a:rPr>
                <a:solidFill>
                  <a:srgbClr val="000000"/>
                </a:solidFill>
              </a:rPr>
              <a:t>Task 2 — Odd/Even Program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770"/>
                </a:solidFill>
              </a:defRPr>
            </a:pPr>
            <a:r>
              <a:rPr>
                <a:solidFill>
                  <a:srgbClr val="000000"/>
                </a:solidFill>
              </a:rPr>
              <a:t>Change 9 to another value and predict the result before execution.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1018520" cy="4892040"/>
          </a:xfrm>
          <a:prstGeom prst="roundRect">
            <a:avLst/>
          </a:prstGeom>
          <a:solidFill>
            <a:srgbClr val="F7F9FB"/>
          </a:solidFill>
          <a:ln>
            <a:solidFill>
              <a:srgbClr val="CD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>
                <a:solidFill>
                  <a:srgbClr val="20242A"/>
                </a:solidFill>
                <a:latin typeface="Consolas"/>
              </a:defRPr>
            </a:pPr>
            <a:r>
              <a:rPr>
                <a:solidFill>
                  <a:srgbClr val="000000"/>
                </a:solidFill>
              </a:rPr>
              <a:t>even:</a:t>
            </a:r>
            <a:br/>
            <a:r>
              <a:rPr>
                <a:solidFill>
                  <a:srgbClr val="000000"/>
                </a:solidFill>
              </a:rPr>
              <a:t>    mov eax, 4</a:t>
            </a:r>
            <a:br/>
            <a:r>
              <a:rPr>
                <a:solidFill>
                  <a:srgbClr val="000000"/>
                </a:solidFill>
              </a:rPr>
              <a:t>    mov ebx, 1</a:t>
            </a:r>
            <a:br/>
            <a:r>
              <a:rPr>
                <a:solidFill>
                  <a:srgbClr val="000000"/>
                </a:solidFill>
              </a:rPr>
              <a:t>    mov ecx, even_msg</a:t>
            </a:r>
            <a:br/>
            <a:r>
              <a:rPr>
                <a:solidFill>
                  <a:srgbClr val="000000"/>
                </a:solidFill>
              </a:rPr>
              <a:t>    mov edx, even_len</a:t>
            </a:r>
            <a:br/>
            <a:r>
              <a:rPr>
                <a:solidFill>
                  <a:srgbClr val="000000"/>
                </a:solidFill>
              </a:rPr>
              <a:t>    int 0x80</a:t>
            </a:r>
            <a:br/>
            <a:br/>
            <a:r>
              <a:rPr>
                <a:solidFill>
                  <a:srgbClr val="000000"/>
                </a:solidFill>
              </a:rPr>
              <a:t>exit:</a:t>
            </a:r>
            <a:br/>
            <a:r>
              <a:rPr>
                <a:solidFill>
                  <a:srgbClr val="000000"/>
                </a:solidFill>
              </a:rPr>
              <a:t>    mov eax, 1</a:t>
            </a:r>
            <a:br/>
            <a:r>
              <a:rPr>
                <a:solidFill>
                  <a:srgbClr val="000000"/>
                </a:solidFill>
              </a:rPr>
              <a:t>    mov ebx, 0</a:t>
            </a:r>
            <a:br/>
            <a:r>
              <a:rPr>
                <a:solidFill>
                  <a:srgbClr val="000000"/>
                </a:solidFill>
              </a:rPr>
              <a:t>    int 0x80</a:t>
            </a:r>
            <a:br/>
            <a:br/>
            <a:r>
              <a:rPr>
                <a:solidFill>
                  <a:srgbClr val="000000"/>
                </a:solidFill>
              </a:rPr>
              <a:t>; For AX = 9:</a:t>
            </a:r>
            <a:br/>
            <a:r>
              <a:rPr>
                <a:solidFill>
                  <a:srgbClr val="000000"/>
                </a:solidFill>
              </a:rPr>
              <a:t>; 0000 0000 0000 1001</a:t>
            </a:r>
            <a:br/>
            <a:r>
              <a:rPr>
                <a:solidFill>
                  <a:srgbClr val="000000"/>
                </a:solidFill>
              </a:rPr>
              <a:t>; AND</a:t>
            </a:r>
            <a:br/>
            <a:r>
              <a:rPr>
                <a:solidFill>
                  <a:srgbClr val="000000"/>
                </a:solidFill>
              </a:rPr>
              <a:t>; 0000 0000 0000 0001</a:t>
            </a:r>
            <a:br/>
            <a:r>
              <a:rPr>
                <a:solidFill>
                  <a:srgbClr val="000000"/>
                </a:solidFill>
              </a:rPr>
              <a:t>; -------------------</a:t>
            </a:r>
            <a:br/>
            <a:r>
              <a:rPr>
                <a:solidFill>
                  <a:srgbClr val="000000"/>
                </a:solidFill>
              </a:rPr>
              <a:t>; 0000 0000 0000 0001</a:t>
            </a:r>
            <a:br/>
            <a:r>
              <a:rPr>
                <a:solidFill>
                  <a:srgbClr val="000000"/>
                </a:solidFill>
              </a:rPr>
              <a:t>;</a:t>
            </a:r>
            <a:br/>
            <a:r>
              <a:rPr>
                <a:solidFill>
                  <a:srgbClr val="000000"/>
                </a:solidFill>
              </a:rPr>
              <a:t>; Expected output: Odd Number!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04A"/>
                </a:solidFill>
              </a:defRPr>
            </a:pPr>
            <a:r>
              <a:rPr>
                <a:solidFill>
                  <a:srgbClr val="000000"/>
                </a:solidFill>
              </a:rPr>
              <a:t>Using TEST Instead of 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770"/>
                </a:solidFill>
              </a:defRPr>
            </a:pPr>
            <a:r>
              <a:rPr>
                <a:solidFill>
                  <a:srgbClr val="000000"/>
                </a:solidFill>
              </a:rPr>
              <a:t>TEST is preferable when the original operand must remain unchanged.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1018520" cy="4892040"/>
          </a:xfrm>
          <a:prstGeom prst="roundRect">
            <a:avLst/>
          </a:prstGeom>
          <a:solidFill>
            <a:srgbClr val="F7F9FB"/>
          </a:solidFill>
          <a:ln>
            <a:solidFill>
              <a:srgbClr val="CD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>
                <a:solidFill>
                  <a:srgbClr val="20242A"/>
                </a:solidFill>
                <a:latin typeface="Consolas"/>
              </a:defRPr>
            </a:pPr>
            <a:r>
              <a:rPr>
                <a:solidFill>
                  <a:srgbClr val="000000"/>
                </a:solidFill>
              </a:rPr>
              <a:t>section .text</a:t>
            </a:r>
            <a:br/>
            <a:r>
              <a:rPr>
                <a:solidFill>
                  <a:srgbClr val="000000"/>
                </a:solidFill>
              </a:rPr>
              <a:t>    global _start</a:t>
            </a:r>
            <a:br/>
            <a:br/>
            <a:r>
              <a:rPr>
                <a:solidFill>
                  <a:srgbClr val="000000"/>
                </a:solidFill>
              </a:rPr>
              <a:t>_start:</a:t>
            </a:r>
            <a:br/>
            <a:r>
              <a:rPr>
                <a:solidFill>
                  <a:srgbClr val="000000"/>
                </a:solidFill>
              </a:rPr>
              <a:t>    mov al, 9</a:t>
            </a:r>
            <a:br/>
            <a:r>
              <a:rPr>
                <a:solidFill>
                  <a:srgbClr val="000000"/>
                </a:solidFill>
              </a:rPr>
              <a:t>    test al, 1          ; checks LSB; AL remains unchanged</a:t>
            </a:r>
            <a:br/>
            <a:r>
              <a:rPr>
                <a:solidFill>
                  <a:srgbClr val="000000"/>
                </a:solidFill>
              </a:rPr>
              <a:t>    jz even_number</a:t>
            </a:r>
            <a:br/>
            <a:br/>
            <a:r>
              <a:rPr>
                <a:solidFill>
                  <a:srgbClr val="000000"/>
                </a:solidFill>
              </a:rPr>
              <a:t>    ; odd-number code can be placed here</a:t>
            </a:r>
            <a:br/>
            <a:r>
              <a:rPr>
                <a:solidFill>
                  <a:srgbClr val="000000"/>
                </a:solidFill>
              </a:rPr>
              <a:t>    jmp done</a:t>
            </a:r>
            <a:br/>
            <a:br/>
            <a:r>
              <a:rPr>
                <a:solidFill>
                  <a:srgbClr val="000000"/>
                </a:solidFill>
              </a:rPr>
              <a:t>even_number:</a:t>
            </a:r>
            <a:br/>
            <a:r>
              <a:rPr>
                <a:solidFill>
                  <a:srgbClr val="000000"/>
                </a:solidFill>
              </a:rPr>
              <a:t>    ; even-number code can be placed here</a:t>
            </a:r>
            <a:br/>
            <a:br/>
            <a:r>
              <a:rPr>
                <a:solidFill>
                  <a:srgbClr val="000000"/>
                </a:solidFill>
              </a:rPr>
              <a:t>done:</a:t>
            </a:r>
            <a:br/>
            <a:r>
              <a:rPr>
                <a:solidFill>
                  <a:srgbClr val="000000"/>
                </a:solidFill>
              </a:rPr>
              <a:t>    mov eax, 1</a:t>
            </a:r>
            <a:br/>
            <a:r>
              <a:rPr>
                <a:solidFill>
                  <a:srgbClr val="000000"/>
                </a:solidFill>
              </a:rPr>
              <a:t>    mov ebx, 0</a:t>
            </a:r>
            <a:br/>
            <a:r>
              <a:rPr>
                <a:solidFill>
                  <a:srgbClr val="000000"/>
                </a:solidFill>
              </a:rPr>
              <a:t>    int 0x80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04A"/>
                </a:solidFill>
              </a:defRPr>
            </a:pPr>
            <a:r>
              <a:rPr>
                <a:solidFill>
                  <a:srgbClr val="000000"/>
                </a:solidFill>
              </a:rPr>
              <a:t>Class Tasks for Students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0242A"/>
                </a:solidFill>
              </a:defRPr>
            </a:pPr>
            <a:r>
              <a:rPr>
                <a:solidFill>
                  <a:srgbClr val="000000"/>
                </a:solidFill>
              </a:rPr>
              <a:t>Task 1 — AND: Load AL with 1101₂ and BL with 1011₂. Perform AND, calculate the result manually, then verify it in NASM.</a:t>
            </a:r>
          </a:p>
          <a:p>
            <a:pPr>
              <a:spcAft>
                <a:spcPts val="1400"/>
              </a:spcAft>
              <a:defRPr sz="2100">
                <a:solidFill>
                  <a:srgbClr val="20242A"/>
                </a:solidFill>
              </a:defRPr>
            </a:pPr>
            <a:r>
              <a:rPr>
                <a:solidFill>
                  <a:srgbClr val="000000"/>
                </a:solidFill>
              </a:rPr>
              <a:t>Task 2 — OR/XOR: Load AL with 0101₂ and BL with 1010₂. Execute OR and XOR separately. Record both binary results and explain why they differ.</a:t>
            </a:r>
          </a:p>
          <a:p>
            <a:pPr>
              <a:spcAft>
                <a:spcPts val="1400"/>
              </a:spcAft>
              <a:defRPr sz="2100">
                <a:solidFill>
                  <a:srgbClr val="20242A"/>
                </a:solidFill>
              </a:defRPr>
            </a:pPr>
            <a:r>
              <a:rPr>
                <a:solidFill>
                  <a:srgbClr val="000000"/>
                </a:solidFill>
              </a:rPr>
              <a:t>Task 3 — Even/Odd: Modify the even/odd program to test the values 14, 17 and 25. Predict each output before execution.</a:t>
            </a:r>
          </a:p>
          <a:p>
            <a:pPr>
              <a:spcAft>
                <a:spcPts val="1400"/>
              </a:spcAft>
              <a:defRPr sz="2100">
                <a:solidFill>
                  <a:srgbClr val="20242A"/>
                </a:solidFill>
              </a:defRPr>
            </a:pPr>
            <a:r>
              <a:rPr>
                <a:solidFill>
                  <a:srgbClr val="000000"/>
                </a:solidFill>
              </a:rPr>
              <a:t>Task 4 — TEST Challenge: Rewrite the even/odd program using TEST AL, 1 instead of AND. Explain why TEST preserves the original value.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04A"/>
                </a:solidFill>
              </a:defRPr>
            </a:pPr>
            <a:r>
              <a:rPr>
                <a:solidFill>
                  <a:srgbClr val="000000"/>
                </a:solidFill>
              </a:rPr>
              <a:t>Expected Answers to Class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770"/>
                </a:solidFill>
              </a:defRPr>
            </a:pPr>
            <a:r>
              <a:rPr>
                <a:solidFill>
                  <a:srgbClr val="000000"/>
                </a:solidFill>
              </a:rPr>
              <a:t>Instructor reference / discussion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0242A"/>
                </a:solidFill>
              </a:defRPr>
            </a:pPr>
            <a:r>
              <a:rPr>
                <a:solidFill>
                  <a:srgbClr val="000000"/>
                </a:solidFill>
              </a:rPr>
              <a:t>Task 1: 1101 AND 1011 = 1001.</a:t>
            </a:r>
          </a:p>
          <a:p>
            <a:pPr>
              <a:spcAft>
                <a:spcPts val="1400"/>
              </a:spcAft>
              <a:defRPr sz="2100">
                <a:solidFill>
                  <a:srgbClr val="20242A"/>
                </a:solidFill>
              </a:defRPr>
            </a:pPr>
            <a:r>
              <a:rPr>
                <a:solidFill>
                  <a:srgbClr val="000000"/>
                </a:solidFill>
              </a:rPr>
              <a:t>Task 2: 0101 OR 1010 = 1111; 0101 XOR 1010 = 1111.</a:t>
            </a:r>
          </a:p>
          <a:p>
            <a:pPr>
              <a:spcAft>
                <a:spcPts val="1400"/>
              </a:spcAft>
              <a:defRPr sz="2100">
                <a:solidFill>
                  <a:srgbClr val="20242A"/>
                </a:solidFill>
              </a:defRPr>
            </a:pPr>
            <a:r>
              <a:rPr>
                <a:solidFill>
                  <a:srgbClr val="000000"/>
                </a:solidFill>
              </a:rPr>
              <a:t>Task 3: 14 → Even, 17 → Odd, 25 → Odd.</a:t>
            </a:r>
          </a:p>
          <a:p>
            <a:pPr>
              <a:spcAft>
                <a:spcPts val="1400"/>
              </a:spcAft>
              <a:defRPr sz="2100">
                <a:solidFill>
                  <a:srgbClr val="20242A"/>
                </a:solidFill>
              </a:defRPr>
            </a:pPr>
            <a:r>
              <a:rPr>
                <a:solidFill>
                  <a:srgbClr val="000000"/>
                </a:solidFill>
              </a:rPr>
              <a:t>Task 4: TEST updates condition flags from a logical AND but does not write the AND result back to 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04A"/>
                </a:solidFill>
              </a:defRPr>
            </a:pPr>
            <a:r>
              <a:rPr>
                <a:solidFill>
                  <a:srgbClr val="000000"/>
                </a:solidFill>
              </a:rPr>
              <a:t>Lab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0242A"/>
                </a:solidFill>
              </a:defRPr>
            </a:pPr>
            <a:r>
              <a:rPr>
                <a:solidFill>
                  <a:srgbClr val="000000"/>
                </a:solidFill>
              </a:rPr>
              <a:t>AND clears or tests bits.</a:t>
            </a:r>
          </a:p>
          <a:p>
            <a:pPr>
              <a:spcAft>
                <a:spcPts val="1400"/>
              </a:spcAft>
              <a:defRPr sz="2100">
                <a:solidFill>
                  <a:srgbClr val="20242A"/>
                </a:solidFill>
              </a:defRPr>
            </a:pPr>
            <a:r>
              <a:rPr>
                <a:solidFill>
                  <a:srgbClr val="000000"/>
                </a:solidFill>
              </a:rPr>
              <a:t>OR sets bits.</a:t>
            </a:r>
          </a:p>
          <a:p>
            <a:pPr>
              <a:spcAft>
                <a:spcPts val="1400"/>
              </a:spcAft>
              <a:defRPr sz="2100">
                <a:solidFill>
                  <a:srgbClr val="20242A"/>
                </a:solidFill>
              </a:defRPr>
            </a:pPr>
            <a:r>
              <a:rPr>
                <a:solidFill>
                  <a:srgbClr val="000000"/>
                </a:solidFill>
              </a:rPr>
              <a:t>XOR toggles bits and can clear a register.</a:t>
            </a:r>
          </a:p>
          <a:p>
            <a:pPr>
              <a:spcAft>
                <a:spcPts val="1400"/>
              </a:spcAft>
              <a:defRPr sz="2100">
                <a:solidFill>
                  <a:srgbClr val="20242A"/>
                </a:solidFill>
              </a:defRPr>
            </a:pPr>
            <a:r>
              <a:rPr>
                <a:solidFill>
                  <a:srgbClr val="000000"/>
                </a:solidFill>
              </a:rPr>
              <a:t>TEST checks bits without modifying the operand.</a:t>
            </a:r>
          </a:p>
          <a:p>
            <a:pPr>
              <a:spcAft>
                <a:spcPts val="1400"/>
              </a:spcAft>
              <a:defRPr sz="2100">
                <a:solidFill>
                  <a:srgbClr val="20242A"/>
                </a:solidFill>
              </a:defRPr>
            </a:pPr>
            <a:r>
              <a:rPr>
                <a:solidFill>
                  <a:srgbClr val="000000"/>
                </a:solidFill>
              </a:rPr>
              <a:t>NOT complements every bit.</a:t>
            </a:r>
          </a:p>
          <a:p>
            <a:pPr>
              <a:spcAft>
                <a:spcPts val="1400"/>
              </a:spcAft>
              <a:defRPr sz="2100">
                <a:solidFill>
                  <a:srgbClr val="20242A"/>
                </a:solidFill>
              </a:defRPr>
            </a:pPr>
            <a:r>
              <a:rPr>
                <a:solidFill>
                  <a:srgbClr val="000000"/>
                </a:solidFill>
              </a:rPr>
              <a:t>The least significant bit provides a simple way to distinguish even and odd integers.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