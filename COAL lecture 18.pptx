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Array, DUP and Source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8086 / NASM Assembly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Arrays allow many related values to be stored under a single variable name.</a:t>
            </a:r>
          </a:p>
          <a:p>
            <a:pPr>
              <a:spcAft>
                <a:spcPts val="700"/>
              </a:spcAft>
              <a:defRPr sz="23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Array elements are stored sequentially in memory.</a:t>
            </a:r>
          </a:p>
          <a:p>
            <a:pPr>
              <a:spcAft>
                <a:spcPts val="700"/>
              </a:spcAft>
              <a:defRPr sz="23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DUP simplifies initialization when the same value is repeated.</a:t>
            </a:r>
          </a:p>
          <a:p>
            <a:pPr>
              <a:spcAft>
                <a:spcPts val="700"/>
              </a:spcAft>
              <a:defRPr sz="23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The SI (Source Index) register can be used as a pointer to access array elements.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Why Use an Array?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Suppose we have four variables: 1, 2, 3, and 4.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If each value is declared separately, every variable has its own name.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When initialized, the values occupy memory locations.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It is better to store related values with a single variable name when they form a sequence.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417320"/>
            <a:ext cx="4480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none"/>
          <a:lstStyle/>
          <a:p>
            <a:pPr algn="ctr">
              <a:defRPr sz="19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var1 db 1</a:t>
            </a:r>
            <a:br/>
            <a:r>
              <a:rPr>
                <a:solidFill>
                  <a:srgbClr val="000000"/>
                </a:solidFill>
              </a:rPr>
              <a:t>var2 db 2</a:t>
            </a:r>
            <a:br/>
            <a:r>
              <a:rPr>
                <a:solidFill>
                  <a:srgbClr val="000000"/>
                </a:solidFill>
              </a:rPr>
              <a:t>var3 db 3</a:t>
            </a:r>
            <a:br/>
            <a:r>
              <a:rPr>
                <a:solidFill>
                  <a:srgbClr val="000000"/>
                </a:solidFill>
              </a:rPr>
              <a:t>var4 db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50215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Values in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3886200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4325112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4764024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5202936"/>
            <a:ext cx="18288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Array: Single Name for Sequential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Example: instead of four separate variable names, use one array name.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The values are stored sequentially in memory.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An array is a collection of characters/values in sequence.</a:t>
            </a:r>
          </a:p>
          <a:p>
            <a:pPr>
              <a:spcAft>
                <a:spcPts val="700"/>
              </a:spcAft>
              <a:defRPr sz="2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This makes it easier to process multiple related values using indexing.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1417320"/>
            <a:ext cx="4480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none"/>
          <a:lstStyle/>
          <a:p>
            <a:pPr algn="ctr">
              <a:defRPr sz="20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var1 db 1, 2, 3,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35915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Sequential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74320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331012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877056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4443983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Array Definition and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Arrays are defined in the .data section.</a:t>
            </a:r>
          </a:p>
          <a:p>
            <a:pPr>
              <a:spcAft>
                <a:spcPts val="7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The program itself is written in the .text/code section.</a:t>
            </a:r>
          </a:p>
          <a:p>
            <a:pPr>
              <a:spcAft>
                <a:spcPts val="7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An array is initialized in the same way as a variable, but with multiple values.</a:t>
            </a:r>
          </a:p>
          <a:p>
            <a:pPr>
              <a:spcAft>
                <a:spcPts val="7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For byte arrays, use DB (Define Byte).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05156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none"/>
          <a:lstStyle/>
          <a:p>
            <a:pPr algn="ctr">
              <a:defRPr sz="17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section .data</a:t>
            </a:r>
            <a:br/>
            <a:br/>
            <a:r>
              <a:rPr>
                <a:solidFill>
                  <a:srgbClr val="000000"/>
                </a:solidFill>
              </a:rPr>
              <a:t>Arr1 db 1, 2, 3, 4</a:t>
            </a:r>
            <a:br/>
            <a:br/>
            <a:r>
              <a:rPr>
                <a:solidFill>
                  <a:srgbClr val="000000"/>
                </a:solidFill>
              </a:rPr>
              <a:t>Arr1 db 'a', 'b', 'c'</a:t>
            </a:r>
            <a:br/>
            <a:br/>
            <a:r>
              <a:rPr>
                <a:solidFill>
                  <a:srgbClr val="000000"/>
                </a:solidFill>
              </a:rPr>
              <a:t>Arr1 db 'abc'</a:t>
            </a:r>
            <a:br/>
            <a:br/>
            <a:r>
              <a:rPr>
                <a:solidFill>
                  <a:srgbClr val="000000"/>
                </a:solidFill>
              </a:rPr>
              <a:t>section .text</a:t>
            </a:r>
            <a:br/>
            <a:r>
              <a:rPr>
                <a:solidFill>
                  <a:srgbClr val="000000"/>
                </a:solidFill>
              </a:rPr>
              <a:t>global _start</a:t>
            </a:r>
            <a:br/>
            <a:r>
              <a:rPr>
                <a:solidFill>
                  <a:srgbClr val="000000"/>
                </a:solidFill>
              </a:rPr>
              <a:t>_start: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Using DUP to Repeat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When the same character/value occurs repeatedly, DUP can duplicate it.</a:t>
            </a:r>
          </a:p>
          <a:p>
            <a:pPr>
              <a:spcAft>
                <a:spcPts val="7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General form: array_name db number_of_elements DUP(value)</a:t>
            </a:r>
          </a:p>
          <a:p>
            <a:pPr>
              <a:spcAft>
                <a:spcPts val="7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Example: Arr1 db 3 DUP('a') creates three byte elements containing 'a'.</a:t>
            </a:r>
          </a:p>
          <a:p>
            <a:pPr>
              <a:spcAft>
                <a:spcPts val="700"/>
              </a:spcAft>
              <a:defRPr sz="19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DUP is useful for creating repeated or reserved storage efficiently.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32588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none"/>
          <a:lstStyle/>
          <a:p>
            <a:pPr algn="ctr">
              <a:defRPr sz="20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Arr1 db 3 DUP('a')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3591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Resulting array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74320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'a'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342900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'a'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411480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'a'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Where to Initialize an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Array declarations are placed in the data directive/section.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The program code is placed in the code/text section.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In the notes, the model is represented as: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model small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stack 100H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data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code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main proc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none"/>
          <a:lstStyle/>
          <a:p>
            <a:pPr algn="ctr">
              <a:defRPr sz="16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.model small</a:t>
            </a:r>
            <a:br/>
            <a:r>
              <a:rPr>
                <a:solidFill>
                  <a:srgbClr val="000000"/>
                </a:solidFill>
              </a:rPr>
              <a:t>.stack 100H</a:t>
            </a:r>
            <a:br/>
            <a:r>
              <a:rPr>
                <a:solidFill>
                  <a:srgbClr val="000000"/>
                </a:solidFill>
              </a:rPr>
              <a:t>.data</a:t>
            </a:r>
            <a:br/>
            <a:r>
              <a:rPr>
                <a:solidFill>
                  <a:srgbClr val="000000"/>
                </a:solidFill>
              </a:rPr>
              <a:t>Arr1 db 1,2,3,4</a:t>
            </a:r>
            <a:br/>
            <a:r>
              <a:rPr>
                <a:solidFill>
                  <a:srgbClr val="000000"/>
                </a:solidFill>
              </a:rPr>
              <a:t>.code</a:t>
            </a:r>
            <a:br/>
            <a:r>
              <a:rPr>
                <a:solidFill>
                  <a:srgbClr val="000000"/>
                </a:solidFill>
              </a:rPr>
              <a:t>main proc</a:t>
            </a:r>
            <a:br/>
            <a:r>
              <a:rPr>
                <a:solidFill>
                  <a:srgbClr val="000000"/>
                </a:solidFill>
              </a:rPr>
              <a:t>    ; program instructions</a:t>
            </a:r>
            <a:br/>
            <a:r>
              <a:rPr>
                <a:solidFill>
                  <a:srgbClr val="000000"/>
                </a:solidFill>
              </a:rPr>
              <a:t>main endp</a:t>
            </a:r>
            <a:br/>
            <a:r>
              <a:rPr>
                <a:solidFill>
                  <a:srgbClr val="000000"/>
                </a:solidFill>
              </a:rPr>
              <a:t>end 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How to Access an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SI (Source Index) can be used as a pointer to access an array.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First load SI with the address/offset of the first array element.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Use [SI] to access the value at the address contained in SI.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SI can then be incremented to access the next byte.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The notes compare SI to a postman: it points to the location from which data is taken.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960120"/>
            <a:ext cx="52120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none"/>
          <a:lstStyle/>
          <a:p>
            <a:pPr algn="ctr">
              <a:defRPr sz="15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mov si, offset Arr1</a:t>
            </a:r>
            <a:br/>
            <a:r>
              <a:rPr>
                <a:solidFill>
                  <a:srgbClr val="000000"/>
                </a:solidFill>
              </a:rPr>
              <a:t>mov dl, [si]</a:t>
            </a:r>
            <a:br/>
            <a:r>
              <a:rPr>
                <a:solidFill>
                  <a:srgbClr val="000000"/>
                </a:solidFill>
              </a:rPr>
              <a:t>mov ah, 2</a:t>
            </a:r>
            <a:br/>
            <a:r>
              <a:rPr>
                <a:solidFill>
                  <a:srgbClr val="000000"/>
                </a:solidFill>
              </a:rPr>
              <a:t>int 21h</a:t>
            </a:r>
            <a:br/>
            <a:br/>
            <a:r>
              <a:rPr>
                <a:solidFill>
                  <a:srgbClr val="000000"/>
                </a:solidFill>
              </a:rPr>
              <a:t>; next element</a:t>
            </a:r>
            <a:br/>
            <a:r>
              <a:rPr>
                <a:solidFill>
                  <a:srgbClr val="000000"/>
                </a:solidFill>
              </a:rPr>
              <a:t>mov dl, [si+1]</a:t>
            </a:r>
            <a:br/>
            <a:r>
              <a:rPr>
                <a:solidFill>
                  <a:srgbClr val="000000"/>
                </a:solidFill>
              </a:rPr>
              <a:t>; OR</a:t>
            </a:r>
            <a:br/>
            <a:r>
              <a:rPr>
                <a:solidFill>
                  <a:srgbClr val="000000"/>
                </a:solidFill>
              </a:rPr>
              <a:t>inc si</a:t>
            </a:r>
            <a:br/>
            <a:r>
              <a:rPr>
                <a:solidFill>
                  <a:srgbClr val="000000"/>
                </a:solidFill>
              </a:rPr>
              <a:t>mov dl, [si]</a:t>
            </a:r>
            <a:br/>
            <a:r>
              <a:rPr>
                <a:solidFill>
                  <a:srgbClr val="000000"/>
                </a:solidFill>
              </a:rPr>
              <a:t>mov ah, 2</a:t>
            </a:r>
            <a:br/>
            <a:r>
              <a:rPr>
                <a:solidFill>
                  <a:srgbClr val="000000"/>
                </a:solidFill>
              </a:rPr>
              <a:t>int 21h</a:t>
            </a:r>
            <a:br/>
            <a:br/>
            <a:r>
              <a:rPr>
                <a:solidFill>
                  <a:srgbClr val="000000"/>
                </a:solidFill>
              </a:rPr>
              <a:t>main endp</a:t>
            </a:r>
            <a:br/>
            <a:r>
              <a:rPr>
                <a:solidFill>
                  <a:srgbClr val="000000"/>
                </a:solidFill>
              </a:rPr>
              <a:t>end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Array Addressing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Assume Arr1 contains: 1, 2, 3, 4.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If the first element starts at AH000, the next byte elements are at consecutive addresses.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Therefore [SI] accesses the first element when SI points to AH000.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[SI+1] accesses the next byte without changing SI.</a:t>
            </a:r>
          </a:p>
          <a:p>
            <a:pPr>
              <a:spcAft>
                <a:spcPts val="700"/>
              </a:spcAft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Alternatively, INC SI changes SI so that [SI] accesses the next element.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21615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Example memory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1600200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5723" y="1645920"/>
            <a:ext cx="1243584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AH000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231343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5723" y="2359152"/>
            <a:ext cx="1243584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AH001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026664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5723" y="3072384"/>
            <a:ext cx="1243584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AH002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739896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5723" y="3785615"/>
            <a:ext cx="1243584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AH003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389120"/>
            <a:ext cx="4846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SI → first element</a:t>
            </a:r>
            <a:br/>
            <a:r>
              <a:rPr>
                <a:solidFill>
                  <a:srgbClr val="000000"/>
                </a:solidFill>
              </a:rPr>
              <a:t>SI + 1 → next element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Complete Example: Reading Array Elements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wrap="none"/>
          <a:lstStyle/>
          <a:p>
            <a:pPr algn="ctr">
              <a:defRPr sz="1700">
                <a:solidFill>
                  <a:srgbClr val="000000"/>
                </a:solidFill>
                <a:latin typeface="Courier New"/>
              </a:defRPr>
            </a:pPr>
            <a:r>
              <a:rPr>
                <a:solidFill>
                  <a:srgbClr val="000000"/>
                </a:solidFill>
              </a:rPr>
              <a:t>section .data</a:t>
            </a:r>
            <a:br/>
            <a:r>
              <a:rPr>
                <a:solidFill>
                  <a:srgbClr val="000000"/>
                </a:solidFill>
              </a:rPr>
              <a:t>Arr1 db 'a', 'b', 'c'</a:t>
            </a:r>
            <a:br/>
            <a:br/>
            <a:r>
              <a:rPr>
                <a:solidFill>
                  <a:srgbClr val="000000"/>
                </a:solidFill>
              </a:rPr>
              <a:t>section .text</a:t>
            </a:r>
            <a:br/>
            <a:r>
              <a:rPr>
                <a:solidFill>
                  <a:srgbClr val="000000"/>
                </a:solidFill>
              </a:rPr>
              <a:t>global _start</a:t>
            </a:r>
            <a:br/>
            <a:r>
              <a:rPr>
                <a:solidFill>
                  <a:srgbClr val="000000"/>
                </a:solidFill>
              </a:rPr>
              <a:t>_start:</a:t>
            </a:r>
            <a:br/>
            <a:r>
              <a:rPr>
                <a:solidFill>
                  <a:srgbClr val="000000"/>
                </a:solidFill>
              </a:rPr>
              <a:t>    mov si, Arr1</a:t>
            </a:r>
            <a:br/>
            <a:r>
              <a:rPr>
                <a:solidFill>
                  <a:srgbClr val="000000"/>
                </a:solidFill>
              </a:rPr>
              <a:t>    mov dl, [si]</a:t>
            </a:r>
            <a:br/>
            <a:r>
              <a:rPr>
                <a:solidFill>
                  <a:srgbClr val="000000"/>
                </a:solidFill>
              </a:rPr>
              <a:t>    mov ah, 2</a:t>
            </a:r>
            <a:br/>
            <a:r>
              <a:rPr>
                <a:solidFill>
                  <a:srgbClr val="000000"/>
                </a:solidFill>
              </a:rPr>
              <a:t>    int 21h</a:t>
            </a:r>
            <a:br/>
            <a:br/>
            <a:r>
              <a:rPr>
                <a:solidFill>
                  <a:srgbClr val="000000"/>
                </a:solidFill>
              </a:rPr>
              <a:t>    mov dl, [si+1]</a:t>
            </a:r>
            <a:br/>
            <a:r>
              <a:rPr>
                <a:solidFill>
                  <a:srgbClr val="000000"/>
                </a:solidFill>
              </a:rPr>
              <a:t>    mov ah, 2</a:t>
            </a:r>
            <a:br/>
            <a:r>
              <a:rPr>
                <a:solidFill>
                  <a:srgbClr val="000000"/>
                </a:solidFill>
              </a:rPr>
              <a:t>    int 21h</a:t>
            </a:r>
            <a:br/>
            <a:br/>
            <a:r>
              <a:rPr>
                <a:solidFill>
                  <a:srgbClr val="000000"/>
                </a:solidFill>
              </a:rPr>
              <a:t>    mov dl, [si+2]</a:t>
            </a:r>
            <a:br/>
            <a:r>
              <a:rPr>
                <a:solidFill>
                  <a:srgbClr val="000000"/>
                </a:solidFill>
              </a:rPr>
              <a:t>    mov ah, 2</a:t>
            </a:r>
            <a:br/>
            <a:r>
              <a:rPr>
                <a:solidFill>
                  <a:srgbClr val="000000"/>
                </a:solidFill>
              </a:rPr>
              <a:t>    int 21h</a:t>
            </a:r>
            <a:br/>
            <a:br/>
            <a:r>
              <a:rPr>
                <a:solidFill>
                  <a:srgbClr val="000000"/>
                </a:solidFill>
              </a:rPr>
              <a:t>    ; exit (DOS-style examples may vary)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Note: In MASM/TASM syntax, OFFSET Arr1 is commonly used to obtain the array address; NASM syntax depends on the target format.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An array stores multiple values using one variable name.</a:t>
            </a:r>
          </a:p>
          <a:p>
            <a:pPr>
              <a:spcAft>
                <a:spcPts val="7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Array elements are stored sequentially in memory.</a:t>
            </a:r>
          </a:p>
          <a:p>
            <a:pPr>
              <a:spcAft>
                <a:spcPts val="7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DB initializes byte-sized array elements.</a:t>
            </a:r>
          </a:p>
          <a:p>
            <a:pPr>
              <a:spcAft>
                <a:spcPts val="7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DUP repeats a specified value a specified number of times.</a:t>
            </a:r>
          </a:p>
          <a:p>
            <a:pPr>
              <a:spcAft>
                <a:spcPts val="7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SI can act as a source-index pointer for array access.</a:t>
            </a:r>
          </a:p>
          <a:p>
            <a:pPr>
              <a:spcAft>
                <a:spcPts val="7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[SI] accesses the element at the current address.</a:t>
            </a:r>
          </a:p>
          <a:p>
            <a:pPr>
              <a:spcAft>
                <a:spcPts val="7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[SI+1] accesses the next byte, while INC SI moves the pointer.</a:t>
            </a:r>
          </a:p>
          <a:p>
            <a:pPr>
              <a:spcAft>
                <a:spcPts val="700"/>
              </a:spcAft>
              <a:defRPr sz="2100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• Arrays simplify storage and processing of related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rPr>
                <a:solidFill>
                  <a:srgbClr val="000000"/>
                </a:solidFill>
              </a:rPr>
              <a:t>Original Notes – Reference</a:t>
            </a:r>
          </a:p>
        </p:txBody>
      </p:sp>
      <p:pic>
        <p:nvPicPr>
          <p:cNvPr id="3" name="Picture 2" descr="image-1789368793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3749039" cy="5440680"/>
          </a:xfrm>
          <a:prstGeom prst="rect">
            <a:avLst/>
          </a:prstGeom>
        </p:spPr>
      </p:pic>
      <p:pic>
        <p:nvPicPr>
          <p:cNvPr id="4" name="Picture 3" descr="image-17893688062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60120"/>
            <a:ext cx="3749039" cy="5440680"/>
          </a:xfrm>
          <a:prstGeom prst="rect">
            <a:avLst/>
          </a:prstGeom>
        </p:spPr>
      </p:pic>
      <p:pic>
        <p:nvPicPr>
          <p:cNvPr id="5" name="Picture 4" descr="image-178936884446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60120"/>
            <a:ext cx="3749039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