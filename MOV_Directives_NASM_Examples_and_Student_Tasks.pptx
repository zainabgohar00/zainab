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MOV and Directives in NASM</a:t>
            </a:r>
          </a:p>
          <a:p>
            <a:pPr algn="ctr">
              <a:defRPr sz="2400"/>
            </a:pPr>
            <a:r>
              <a:t>Examples and Practical Student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1: MOV Register to Register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070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MOV AX, 10</a:t>
            </a:r>
          </a:p>
          <a:p>
            <a:pPr>
              <a:defRPr sz="1900">
                <a:latin typeface="Consolas"/>
              </a:defRPr>
            </a:pPr>
            <a:r>
              <a:t>MOV BX, 20</a:t>
            </a:r>
          </a:p>
          <a:p>
            <a:pPr>
              <a:defRPr sz="1900">
                <a:latin typeface="Consolas"/>
              </a:defRPr>
            </a:pPr>
            <a:r>
              <a:t>MOV AX, BX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MOV AX, 10 → AX gets 10.</a:t>
            </a:r>
          </a:p>
          <a:p>
            <a:pPr>
              <a:spcAft>
                <a:spcPts val="1000"/>
              </a:spcAft>
              <a:defRPr sz="1700"/>
            </a:pPr>
            <a:r>
              <a:t>MOV BX, 20 → BX gets 20.</a:t>
            </a:r>
          </a:p>
          <a:p>
            <a:pPr>
              <a:spcAft>
                <a:spcPts val="1000"/>
              </a:spcAft>
              <a:defRPr sz="1700"/>
            </a:pPr>
            <a:r>
              <a:t>MOV AX, BX → value of BX is copied into AX.</a:t>
            </a:r>
          </a:p>
          <a:p>
            <a:pPr>
              <a:spcAft>
                <a:spcPts val="1000"/>
              </a:spcAft>
              <a:defRPr sz="1700"/>
            </a:pPr>
            <a:r>
              <a:t>Final value of AX = 20.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2: MOV Immediate Value to Registers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1060704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149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MOV AL, 25</a:t>
            </a:r>
          </a:p>
          <a:p>
            <a:pPr>
              <a:defRPr sz="1900">
                <a:latin typeface="Consolas"/>
              </a:defRPr>
            </a:pPr>
            <a:r>
              <a:t>MOV BL, 15</a:t>
            </a:r>
          </a:p>
          <a:p>
            <a:pPr>
              <a:defRPr sz="1900">
                <a:latin typeface="Consolas"/>
              </a:defRPr>
            </a:pPr>
            <a:r>
              <a:t>MOV CL,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343400"/>
          <a:ext cx="10789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3434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3: Using DB Directive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070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NUM1 DB 10</a:t>
            </a:r>
          </a:p>
          <a:p>
            <a:pPr>
              <a:defRPr sz="1900">
                <a:latin typeface="Consolas"/>
              </a:defRPr>
            </a:pPr>
            <a:r>
              <a:t>NUM2 DB 20</a:t>
            </a:r>
          </a:p>
          <a:p>
            <a:pPr>
              <a:defRPr sz="1900">
                <a:latin typeface="Consolas"/>
              </a:defRPr>
            </a:pPr>
          </a:p>
          <a:p>
            <a:pPr>
              <a:defRPr sz="1900">
                <a:latin typeface="Consolas"/>
              </a:defRPr>
            </a:pPr>
            <a:r>
              <a:t>MOV AL, [NUM1]</a:t>
            </a:r>
          </a:p>
          <a:p>
            <a:pPr>
              <a:defRPr sz="1900">
                <a:latin typeface="Consolas"/>
              </a:defRPr>
            </a:pPr>
            <a:r>
              <a:t>MOV BL, [NUM2]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NUM1 DB 10 → defines a byte named NUM1 containing 10.</a:t>
            </a:r>
          </a:p>
          <a:p>
            <a:pPr>
              <a:spcAft>
                <a:spcPts val="1000"/>
              </a:spcAft>
              <a:defRPr sz="1500"/>
            </a:pPr>
            <a:r>
              <a:t>NUM2 DB 20 → defines a byte named NUM2 containing 20.</a:t>
            </a:r>
          </a:p>
          <a:p>
            <a:pPr>
              <a:spcAft>
                <a:spcPts val="1000"/>
              </a:spcAft>
              <a:defRPr sz="1500"/>
            </a:pPr>
            <a:r>
              <a:t>MOV AL, [NUM1] → loads 10 into AL.</a:t>
            </a:r>
          </a:p>
          <a:p>
            <a:pPr>
              <a:spcAft>
                <a:spcPts val="1000"/>
              </a:spcAft>
              <a:defRPr sz="1500"/>
            </a:pPr>
            <a:r>
              <a:t>MOV BL, [NUM2] → loads 20 into BL.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4: Using DW Directive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070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NUM1 DW 1000</a:t>
            </a:r>
          </a:p>
          <a:p>
            <a:pPr>
              <a:defRPr sz="1900">
                <a:latin typeface="Consolas"/>
              </a:defRPr>
            </a:pPr>
            <a:r>
              <a:t>NUM2 DW 2000</a:t>
            </a:r>
          </a:p>
          <a:p>
            <a:pPr>
              <a:defRPr sz="1900">
                <a:latin typeface="Consolas"/>
              </a:defRPr>
            </a:pPr>
          </a:p>
          <a:p>
            <a:pPr>
              <a:defRPr sz="1900">
                <a:latin typeface="Consolas"/>
              </a:defRPr>
            </a:pPr>
            <a:r>
              <a:t>MOV AX, [NUM1]</a:t>
            </a:r>
          </a:p>
          <a:p>
            <a:pPr>
              <a:defRPr sz="1900">
                <a:latin typeface="Consolas"/>
              </a:defRPr>
            </a:pPr>
            <a:r>
              <a:t>MOV BX, [NUM2]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DW defines 16-bit (word) data.</a:t>
            </a:r>
          </a:p>
          <a:p>
            <a:pPr>
              <a:spcAft>
                <a:spcPts val="1000"/>
              </a:spcAft>
              <a:defRPr sz="1700"/>
            </a:pPr>
            <a:r>
              <a:t>After execution: AX = 1000</a:t>
            </a:r>
          </a:p>
          <a:p>
            <a:pPr>
              <a:spcAft>
                <a:spcPts val="1000"/>
              </a:spcAft>
              <a:defRPr sz="1700"/>
            </a:pPr>
            <a:r>
              <a:t>After execution: BX = 2000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Student Task 1 — MOV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Objective: Practice moving data between registers.</a:t>
            </a:r>
          </a:p>
          <a:p>
            <a:pPr>
              <a:spcAft>
                <a:spcPts val="1000"/>
              </a:spcAft>
              <a:defRPr sz="1800"/>
            </a:pPr>
            <a:r>
              <a:t>Write a NASM program that:</a:t>
            </a:r>
          </a:p>
          <a:p>
            <a:pPr>
              <a:spcAft>
                <a:spcPts val="1000"/>
              </a:spcAft>
              <a:defRPr sz="1800"/>
            </a:pPr>
            <a:r>
              <a:t>1. Stores 15 in AX.</a:t>
            </a:r>
          </a:p>
          <a:p>
            <a:pPr>
              <a:spcAft>
                <a:spcPts val="1000"/>
              </a:spcAft>
              <a:defRPr sz="1800"/>
            </a:pPr>
            <a:r>
              <a:t>2. Stores 25 in BX.</a:t>
            </a:r>
          </a:p>
          <a:p>
            <a:pPr>
              <a:spcAft>
                <a:spcPts val="1000"/>
              </a:spcAft>
              <a:defRPr sz="1800"/>
            </a:pPr>
            <a:r>
              <a:t>3. Copies BX into AX.</a:t>
            </a:r>
          </a:p>
          <a:p>
            <a:pPr>
              <a:spcAft>
                <a:spcPts val="1000"/>
              </a:spcAft>
              <a:defRPr sz="1800"/>
            </a:pPr>
            <a:r>
              <a:t>4. Stores 50 in CX.</a:t>
            </a:r>
          </a:p>
          <a:p>
            <a:pPr>
              <a:spcAft>
                <a:spcPts val="1000"/>
              </a:spcAft>
              <a:defRPr sz="1800"/>
            </a:pPr>
            <a:r>
              <a:t>5. Copies CX into DX.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Student Task 1 — Determine the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Students should determine:</a:t>
            </a:r>
          </a:p>
          <a:p>
            <a:pPr>
              <a:spcAft>
                <a:spcPts val="1000"/>
              </a:spcAft>
              <a:defRPr sz="2000"/>
            </a:pPr>
            <a:r>
              <a:t>• What is the final value of AX?</a:t>
            </a:r>
          </a:p>
          <a:p>
            <a:pPr>
              <a:spcAft>
                <a:spcPts val="1000"/>
              </a:spcAft>
              <a:defRPr sz="2000"/>
            </a:pPr>
            <a:r>
              <a:t>• What is the final value of BX?</a:t>
            </a:r>
          </a:p>
          <a:p>
            <a:pPr>
              <a:spcAft>
                <a:spcPts val="1000"/>
              </a:spcAft>
              <a:defRPr sz="2000"/>
            </a:pPr>
            <a:r>
              <a:t>• What is the final value of CX?</a:t>
            </a:r>
          </a:p>
          <a:p>
            <a:pPr>
              <a:spcAft>
                <a:spcPts val="1000"/>
              </a:spcAft>
              <a:defRPr sz="2000"/>
            </a:pPr>
            <a:r>
              <a:t>• What is the final value of DX?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406908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84048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Final Value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Student Task 2 — MOV +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Objective: Practice using DB, DW, and MOV together.</a:t>
            </a:r>
          </a:p>
          <a:p>
            <a:pPr>
              <a:spcAft>
                <a:spcPts val="1000"/>
              </a:spcAft>
              <a:defRPr sz="1900"/>
            </a:pPr>
            <a:r>
              <a:t>Write a NASM program that defines NUM1, NUM2, NUM3, and NUM4.</a:t>
            </a:r>
          </a:p>
          <a:p>
            <a:pPr>
              <a:spcAft>
                <a:spcPts val="1000"/>
              </a:spcAft>
              <a:defRPr sz="1900"/>
            </a:pPr>
            <a:r>
              <a:t>Then use MOV to load NUM1 into AL, NUM2 into BL, NUM3 into AX, and NUM4 into BX.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794760"/>
            <a:ext cx="10607040" cy="192024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10149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NUM1 DB 12</a:t>
            </a:r>
          </a:p>
          <a:p>
            <a:pPr>
              <a:defRPr sz="1900">
                <a:latin typeface="Consolas"/>
              </a:defRPr>
            </a:pPr>
            <a:r>
              <a:t>NUM2 DB 24</a:t>
            </a:r>
          </a:p>
          <a:p>
            <a:pPr>
              <a:defRPr sz="1900">
                <a:latin typeface="Consolas"/>
              </a:defRPr>
            </a:pPr>
            <a:r>
              <a:t>NUM3 DW 1000</a:t>
            </a:r>
          </a:p>
          <a:p>
            <a:pPr>
              <a:defRPr sz="1900">
                <a:latin typeface="Consolas"/>
              </a:defRPr>
            </a:pPr>
            <a:r>
              <a:t>NUM4 DW 2000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Student Task 2 — Complete the MOV Instructions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80160"/>
            <a:ext cx="1060704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49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NUM1 DB 12</a:t>
            </a:r>
          </a:p>
          <a:p>
            <a:pPr>
              <a:defRPr sz="1900">
                <a:latin typeface="Consolas"/>
              </a:defRPr>
            </a:pPr>
            <a:r>
              <a:t>NUM2 DB 24</a:t>
            </a:r>
          </a:p>
          <a:p>
            <a:pPr>
              <a:defRPr sz="1900">
                <a:latin typeface="Consolas"/>
              </a:defRPr>
            </a:pPr>
            <a:r>
              <a:t>NUM3 DW 1000</a:t>
            </a:r>
          </a:p>
          <a:p>
            <a:pPr>
              <a:defRPr sz="1900">
                <a:latin typeface="Consolas"/>
              </a:defRPr>
            </a:pPr>
            <a:r>
              <a:t>NUM4 DW 2000</a:t>
            </a:r>
          </a:p>
          <a:p>
            <a:pPr>
              <a:defRPr sz="1900">
                <a:latin typeface="Consolas"/>
              </a:defRPr>
            </a:pPr>
          </a:p>
          <a:p>
            <a:pPr>
              <a:defRPr sz="1900">
                <a:latin typeface="Consolas"/>
              </a:defRPr>
            </a:pPr>
            <a:r>
              <a:t>; Write MOV instructions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177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Load NUM1 into AL.</a:t>
            </a:r>
          </a:p>
          <a:p>
            <a:pPr>
              <a:spcAft>
                <a:spcPts val="1000"/>
              </a:spcAft>
              <a:defRPr sz="1800"/>
            </a:pPr>
            <a:r>
              <a:t>Load NUM2 into BL.</a:t>
            </a:r>
          </a:p>
          <a:p>
            <a:pPr>
              <a:spcAft>
                <a:spcPts val="1000"/>
              </a:spcAft>
              <a:defRPr sz="1800"/>
            </a:pPr>
            <a:r>
              <a:t>Load NUM3 into AX.</a:t>
            </a:r>
          </a:p>
          <a:p>
            <a:pPr>
              <a:spcAft>
                <a:spcPts val="1000"/>
              </a:spcAft>
              <a:defRPr sz="1800"/>
            </a:pPr>
            <a:r>
              <a:t>Load NUM4 into BX.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2 — Expected Register Values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17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58368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Expected Value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24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1000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983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Remember: DB defines byte data; DW defines 16-bit word data.</a:t>
            </a:r>
          </a:p>
          <a:p>
            <a:pPr>
              <a:spcAft>
                <a:spcPts val="1000"/>
              </a:spcAft>
              <a:defRPr sz="1700"/>
            </a:pPr>
            <a:r>
              <a:t>Square brackets [ ] are used to access the value stored in memory.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 MOV to copy data between registers.</a:t>
            </a:r>
          </a:p>
          <a:p>
            <a:pPr>
              <a:spcAft>
                <a:spcPts val="1000"/>
              </a:spcAft>
              <a:defRPr sz="2000"/>
            </a:pPr>
            <a:r>
              <a:t>Move immediate values into registers.</a:t>
            </a:r>
          </a:p>
          <a:p>
            <a:pPr>
              <a:spcAft>
                <a:spcPts val="1000"/>
              </a:spcAft>
              <a:defRPr sz="2000"/>
            </a:pPr>
            <a:r>
              <a:t>Define byte and word data using DB and DW.</a:t>
            </a:r>
          </a:p>
          <a:p>
            <a:pPr>
              <a:spcAft>
                <a:spcPts val="1000"/>
              </a:spcAft>
              <a:defRPr sz="2000"/>
            </a:pPr>
            <a:r>
              <a:t>Load values from memory using MOV.</a:t>
            </a:r>
          </a:p>
          <a:p>
            <a:pPr>
              <a:spcAft>
                <a:spcPts val="1000"/>
              </a:spcAft>
              <a:defRPr sz="2000"/>
            </a:pPr>
            <a:r>
              <a:t>Analyze the final values stored in registers.</a:t>
            </a:r>
          </a:p>
          <a:p>
            <a:pPr>
              <a:spcAft>
                <a:spcPts val="1000"/>
              </a:spcAft>
              <a:defRPr sz="2000"/>
            </a:pPr>
            <a:r>
              <a:t>Write and test simple NASM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